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3" r:id="rId20"/>
    <p:sldId id="28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rPr lang="en-US" dirty="0"/>
              <a:t>Beyond </a:t>
            </a:r>
            <a:r>
              <a:rPr dirty="0"/>
              <a:t>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48366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9900"/>
                </a:solidFill>
              </a:defRPr>
            </a:pPr>
            <a:r>
              <a:rPr lang="en-US" dirty="0"/>
              <a:t>Constructing Context Graphs and Multi Agent System hands on with AWS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093808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F3F3"/>
                </a:solidFill>
              </a:defRPr>
            </a:pPr>
            <a:r>
              <a:rPr dirty="0"/>
              <a:t>A story of reconciling $1</a:t>
            </a:r>
            <a:r>
              <a:rPr lang="en-US" dirty="0"/>
              <a:t>00</a:t>
            </a:r>
            <a:r>
              <a:rPr dirty="0"/>
              <a:t>B+ in AWS </a:t>
            </a:r>
            <a:r>
              <a:rPr dirty="0" err="1"/>
              <a:t>CapEx</a:t>
            </a:r>
            <a:r>
              <a:rPr dirty="0"/>
              <a:t>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Hands-On Workshop  |  90 Minutes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74197-6BA5-8261-2890-4F0E0EFAE1D8}"/>
              </a:ext>
            </a:extLst>
          </p:cNvPr>
          <p:cNvSpPr txBox="1"/>
          <p:nvPr/>
        </p:nvSpPr>
        <p:spPr>
          <a:xfrm>
            <a:off x="914400" y="4155608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F3F3"/>
                </a:solidFill>
              </a:defRPr>
            </a:pPr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Monil Shah – Senior SDE, AWS</a:t>
            </a:r>
          </a:p>
          <a:p>
            <a:pPr algn="l">
              <a:defRPr sz="2000" b="0">
                <a:solidFill>
                  <a:srgbClr val="F2F3F3"/>
                </a:solidFill>
              </a:defRPr>
            </a:pPr>
            <a:r>
              <a:rPr lang="en-US" dirty="0"/>
              <a:t>Vivek </a:t>
            </a:r>
            <a:r>
              <a:rPr lang="en-US" dirty="0" err="1"/>
              <a:t>Ghatala</a:t>
            </a:r>
            <a:r>
              <a:rPr lang="en-US" dirty="0"/>
              <a:t> – Senior SDE,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dirty="0"/>
              <a:t>The Story: AWS </a:t>
            </a:r>
            <a:r>
              <a:rPr dirty="0" err="1"/>
              <a:t>CapEx</a:t>
            </a:r>
            <a:r>
              <a:rPr dirty="0"/>
              <a:t> Financial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The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💰  $1</a:t>
            </a:r>
            <a:r>
              <a:rPr lang="en-US" dirty="0"/>
              <a:t>00</a:t>
            </a:r>
            <a:r>
              <a:rPr dirty="0"/>
              <a:t>B+ in infrastructure transactions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     flowing through Veritas automation annually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📊  Multiple disconnected systems: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     P</a:t>
            </a:r>
            <a:r>
              <a:rPr lang="en-US" dirty="0"/>
              <a:t>urchase Orders, Data Centers, Invoices, Accounting Subledgers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👥  Accounting</a:t>
            </a:r>
            <a:r>
              <a:rPr lang="en-US" dirty="0"/>
              <a:t> and</a:t>
            </a:r>
            <a:r>
              <a:rPr dirty="0"/>
              <a:t> Finance teams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     all need reconciliation metrics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🔄  1.5M transactions reduced to ~150K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     open items...but still requires manual investigation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The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21409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rPr dirty="0"/>
              <a:t>S</a:t>
            </a:r>
            <a:r>
              <a:rPr lang="en-US" dirty="0"/>
              <a:t>upply Chain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rPr dirty="0"/>
              <a:t>Procurement &amp;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9436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rPr dirty="0"/>
              <a:t>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Accounts payable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399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rPr lang="en-US" dirty="0"/>
              <a:t>SL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046720" y="3145969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rPr dirty="0"/>
              <a:t> Sub-Ledger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09345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rPr dirty="0"/>
              <a:t>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5023" y="3693963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rPr dirty="0"/>
              <a:t>Fixed-asset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0000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3BB"/>
                </a:solidFill>
              </a:defRPr>
            </a:pPr>
            <a:r>
              <a:rPr dirty="0" err="1"/>
              <a:t>Data</a:t>
            </a:r>
            <a:r>
              <a:rPr lang="en-US" dirty="0" err="1"/>
              <a:t>Lake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046720" y="422442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rPr dirty="0"/>
              <a:t>Redshift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Problem: Three Pain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Fragmented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No 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Policy docs, metric definitions, reconciliation</a:t>
            </a:r>
            <a:br/>
            <a:r>
              <a:t>rules, and system configs scattered across wikis,</a:t>
            </a:r>
            <a:br/>
            <a:r>
              <a:t>Alteryx workflows, and tribal knowledge.</a:t>
            </a:r>
            <a:br/>
            <a:br/>
            <a:r>
              <a:t>New analyst asks: "What's the PO aging threshold</a:t>
            </a:r>
            <a:br/>
            <a:r>
              <a:t>for the LLE category?" — nobody knows where</a:t>
            </a:r>
            <a:br/>
            <a:r>
              <a:t>the answer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Lost Decision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No record of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Why was the PO aging threshold set to 90 days?</a:t>
            </a:r>
            <a:br/>
            <a:r>
              <a:t>Why did we switch from OFA-only to FASL+?</a:t>
            </a:r>
            <a:br/>
            <a:r>
              <a:t>Why are certain asset categories excluded?</a:t>
            </a:r>
            <a:br/>
            <a:br/>
            <a:r>
              <a:t>Decisions made during month-end close are lost.</a:t>
            </a:r>
            <a:br/>
            <a:r>
              <a:t>Next quarter, same questions resurface.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12"/>
                </a:solidFill>
              </a:defRPr>
            </a:pPr>
            <a:r>
              <a:t>❌  Manual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900"/>
                </a:solidFill>
              </a:defRPr>
            </a:pPr>
            <a:r>
              <a:t>Can't act on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150K open transactions still need manual review.</a:t>
            </a:r>
            <a:br/>
            <a:r>
              <a:t>Analysts copy-paste between DataStudio, Excel,</a:t>
            </a:r>
            <a:br/>
            <a:r>
              <a:t>and email to investigate discrepancies.</a:t>
            </a:r>
            <a:br/>
            <a:br/>
            <a:r>
              <a:t>"Show me POs aging &gt;90 days not yet invoiced</a:t>
            </a:r>
            <a:br/>
            <a:r>
              <a:t>for EMEA" requires 4 manual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Our Journey: Build an AI-Powered Metrics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rPr dirty="0"/>
              <a:t>We'll build an agent that understands A</a:t>
            </a:r>
            <a:r>
              <a:rPr lang="en-US" dirty="0"/>
              <a:t>W</a:t>
            </a:r>
            <a:r>
              <a:rPr dirty="0"/>
              <a:t>S</a:t>
            </a:r>
            <a:r>
              <a:rPr lang="en-US" dirty="0"/>
              <a:t> financial system</a:t>
            </a:r>
            <a:r>
              <a:rPr dirty="0"/>
              <a:t> metrics, knows WHY decisions were made, and can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822960" cy="13716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Knowledge Base</a:t>
            </a:r>
            <a:br/>
            <a:r>
              <a:t>+ Custom 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Ingest metric definitions, reconciliation rules, and policy docs</a:t>
            </a:r>
            <a:br/>
            <a:r>
              <a:t>into a Bedrock KB with structure-preserving chunking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3BB"/>
                </a:solidFill>
              </a:defRPr>
            </a:pPr>
            <a:r>
              <a:t>30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82296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Context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204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Build a Neptune Analytics graph of systems, metrics, decisions,</a:t>
            </a:r>
            <a:br/>
            <a:r>
              <a:t>and relationships — the event clock for financial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9900"/>
                </a:solidFill>
              </a:defRPr>
            </a:pPr>
            <a:r>
              <a:t>30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822960" cy="137160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Agentic AI</a:t>
            </a:r>
            <a:br/>
            <a:r>
              <a:t>with Strands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0749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3F3"/>
                </a:solidFill>
              </a:defRPr>
            </a:pPr>
            <a:r>
              <a:t>Build a Strands agent that queries KB + graph, runs Athena</a:t>
            </a:r>
            <a:br/>
            <a:r>
              <a:t>queries, classifies discrepancies, and records decision traces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B660F"/>
                </a:solidFill>
              </a:defRPr>
            </a:pPr>
            <a:r>
              <a:t>30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We're Building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8C8CD-0BC3-302B-3004-1AD75B71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98448"/>
            <a:ext cx="10311871" cy="4865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Two Clock Problem in Financial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AFS teams have a state clock but no event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3BB"/>
                </a:solidFill>
              </a:defRPr>
            </a:pPr>
            <a:r>
              <a:t>⏰  State Clock  (what exists 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Current metric definitions in JSON configs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"PO aging threshold is 90 days"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"categories: AHU, GENERATOR"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"MTD period for </a:t>
            </a:r>
            <a:r>
              <a:rPr dirty="0" err="1"/>
              <a:t>po_total_spend</a:t>
            </a:r>
            <a:r>
              <a:rPr dirty="0"/>
              <a:t>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Current reconciliation rules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"Match GL to sub-ledger"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"Filter </a:t>
            </a:r>
            <a:r>
              <a:rPr dirty="0" err="1"/>
              <a:t>po_amount</a:t>
            </a:r>
            <a:r>
              <a:rPr dirty="0"/>
              <a:t> &gt; 300"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✅  KB handle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⏰  Event Clock  (what's missing)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57200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WHY was the threshold set to 90 days?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"Q4 2024 audit found 60-day was too aggressive"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WHY are AHU and GENERATOR in </a:t>
            </a:r>
            <a:r>
              <a:rPr lang="en-US" dirty="0"/>
              <a:t>category</a:t>
            </a:r>
            <a:r>
              <a:rPr dirty="0"/>
              <a:t>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"Finance reclassified in FY2024 per GAAP update"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WHY did last month's reconciliation fail?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"</a:t>
            </a:r>
            <a:r>
              <a:rPr dirty="0" err="1"/>
              <a:t>Data</a:t>
            </a:r>
            <a:r>
              <a:rPr lang="en-US" dirty="0" err="1"/>
              <a:t>Lake</a:t>
            </a:r>
            <a:r>
              <a:rPr dirty="0"/>
              <a:t> query returned stale data — fixed"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❌  No infrastructure for this!</a:t>
            </a:r>
          </a:p>
          <a:p>
            <a:pPr>
              <a:spcAft>
                <a:spcPts val="600"/>
              </a:spcAft>
              <a:defRPr sz="1300">
                <a:solidFill>
                  <a:srgbClr val="F2F3F3"/>
                </a:solidFill>
              </a:defRPr>
            </a:pPr>
            <a:r>
              <a:rPr dirty="0"/>
              <a:t>✅  Context graphs solve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 Scenario: Month-End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It's March 31st. FBI CapEx analyst needs to close the 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"What is the total PO spend for</a:t>
            </a:r>
            <a:br/>
            <a:r>
              <a:t> EMEA this month, broken down</a:t>
            </a:r>
            <a:br/>
            <a:r>
              <a:t> by currency?"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Agent searches KB for metric definition</a:t>
            </a:r>
            <a:br>
              <a:rPr dirty="0"/>
            </a:br>
            <a:r>
              <a:rPr dirty="0"/>
              <a:t>→ finds </a:t>
            </a:r>
            <a:r>
              <a:rPr dirty="0" err="1"/>
              <a:t>po_total_spend</a:t>
            </a:r>
            <a:r>
              <a:rPr dirty="0"/>
              <a:t> namespace</a:t>
            </a:r>
            <a:br>
              <a:rPr dirty="0"/>
            </a:br>
            <a:r>
              <a:rPr dirty="0"/>
              <a:t>→ returns: EUR €2.5M, GBP £500K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8036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/>
              <a:t>"Why did we change the PO aging</a:t>
            </a:r>
            <a:br>
              <a:rPr dirty="0"/>
            </a:br>
            <a:r>
              <a:rPr dirty="0"/>
              <a:t> threshold from 60 to 90 days</a:t>
            </a:r>
            <a:br>
              <a:rPr dirty="0"/>
            </a:br>
            <a:r>
              <a:rPr dirty="0"/>
              <a:t> last quarter?"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88036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926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Agent queries context graph</a:t>
            </a:r>
            <a:br>
              <a:rPr dirty="0"/>
            </a:br>
            <a:r>
              <a:rPr dirty="0"/>
              <a:t>→ finds Decision: Q4-2024-AUDIT</a:t>
            </a:r>
            <a:br>
              <a:rPr dirty="0"/>
            </a:br>
            <a:r>
              <a:rPr dirty="0"/>
              <a:t>→ "60-day was flagging too many</a:t>
            </a:r>
            <a:br>
              <a:rPr dirty="0"/>
            </a:br>
            <a:r>
              <a:rPr dirty="0"/>
              <a:t>    false positives during audit"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11480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1605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/>
              <a:t>"Show me POs aging &gt;90 days</a:t>
            </a:r>
            <a:br>
              <a:rPr dirty="0"/>
            </a:br>
            <a:r>
              <a:rPr dirty="0"/>
              <a:t> not yet invoiced — and classify</a:t>
            </a:r>
            <a:br>
              <a:rPr dirty="0"/>
            </a:br>
            <a:r>
              <a:rPr dirty="0"/>
              <a:t> the risk level"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11480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41605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Agent calls query tool → Athena</a:t>
            </a:r>
            <a:br>
              <a:rPr dirty="0"/>
            </a:br>
            <a:r>
              <a:rPr dirty="0"/>
              <a:t>→ retrieves 47 POs totaling $3.2M</a:t>
            </a:r>
            <a:br>
              <a:rPr dirty="0"/>
            </a:br>
            <a:r>
              <a:rPr dirty="0"/>
              <a:t>→ classifies: 12 high-risk (&gt;$500K)</a:t>
            </a:r>
            <a:br>
              <a:rPr dirty="0"/>
            </a:br>
            <a:r>
              <a:rPr dirty="0"/>
              <a:t>→ records decision trace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49240"/>
            <a:ext cx="457200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349240"/>
            <a:ext cx="475488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3949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/>
              <a:t>"Compare this month's failed</a:t>
            </a:r>
            <a:br>
              <a:rPr dirty="0"/>
            </a:br>
            <a:r>
              <a:rPr dirty="0"/>
              <a:t> asset creates vs last month.</a:t>
            </a:r>
            <a:br>
              <a:rPr dirty="0"/>
            </a:br>
            <a:r>
              <a:rPr dirty="0"/>
              <a:t> What changed?"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5349240"/>
            <a:ext cx="5760720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539496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Agent searches KB + graph</a:t>
            </a:r>
            <a:br>
              <a:rPr dirty="0"/>
            </a:br>
            <a:r>
              <a:rPr dirty="0"/>
              <a:t>→ 23 failures this month vs 8 last</a:t>
            </a:r>
            <a:br>
              <a:rPr dirty="0"/>
            </a:br>
            <a:r>
              <a:rPr dirty="0"/>
              <a:t>→ graph shows: new GENERATOR</a:t>
            </a:r>
            <a:br>
              <a:rPr dirty="0"/>
            </a:br>
            <a:r>
              <a:rPr dirty="0"/>
              <a:t>    category onboarded March 15th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Knowledge Base + Custom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rPr dirty="0"/>
              <a:t>Ingesting metric definitions, reconciliation rules, and policy 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Chunking Matters for Financial 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12"/>
                </a:solidFill>
              </a:defRPr>
            </a:pPr>
            <a:r>
              <a:t>❌  Fixed-Size Chunking (300 tokens)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AFS Metric Definition doc:</a:t>
            </a:r>
            <a:br/>
            <a:br/>
            <a:r>
              <a:t>┌─── Chunk 1 ────────────────────┐</a:t>
            </a:r>
            <a:br/>
            <a:r>
              <a:t>│ Metric: po_total_spend         │</a:t>
            </a:r>
            <a:br/>
            <a:r>
              <a:t>│ Type: SUM                      │</a:t>
            </a:r>
            <a:br/>
            <a:r>
              <a:t>│ Value: po_amount               │</a:t>
            </a:r>
            <a:br/>
            <a:r>
              <a:t>│ Breakdown: currency            │</a:t>
            </a:r>
            <a:br/>
            <a:r>
              <a:t>│ Dimensions:                    │</a:t>
            </a:r>
            <a:br/>
            <a:r>
              <a:t>│   - entity                     │</a:t>
            </a:r>
            <a:br/>
            <a:r>
              <a:t>│   - region                     │</a:t>
            </a:r>
            <a:br/>
            <a:r>
              <a:t>└─────────────────── CUT ────────┘</a:t>
            </a:r>
            <a:br/>
            <a:r>
              <a:t>┌─── Chunk 2 ────────────────────┐</a:t>
            </a:r>
            <a:br/>
            <a:r>
              <a:t>│   - cost_center                │</a:t>
            </a:r>
            <a:br/>
            <a:r>
              <a:t>│ Filters:                       │</a:t>
            </a:r>
            <a:br/>
            <a:r>
              <a:t>│   po_amount &gt; 300              │</a:t>
            </a:r>
            <a:br/>
            <a:r>
              <a:t>│   line_category IN [AHU, GEN]  │</a:t>
            </a:r>
            <a:br/>
            <a:r>
              <a:t>│ Periods: MTD, QTD, YTD         │</a:t>
            </a:r>
            <a:br/>
            <a:r>
              <a:t>└────────────────────────────────┘</a:t>
            </a:r>
            <a:br/>
            <a:br/>
            <a:r>
              <a:t>Agent gets Chunk 1 → answers without</a:t>
            </a:r>
            <a:br/>
            <a:r>
              <a:t>filters or periods. WRONG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660F"/>
                </a:solidFill>
              </a:defRPr>
            </a:pPr>
            <a:r>
              <a:t>✅  Custom Chunking (by Namespace)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Same doc, namespace-aware chunking:</a:t>
            </a:r>
            <a:br/>
            <a:br/>
            <a:r>
              <a:t>┌─── Chunk (complete namespace) ──┐</a:t>
            </a:r>
            <a:br/>
            <a:r>
              <a:t>│ Namespace: veritas_po_metrics   │</a:t>
            </a:r>
            <a:br/>
            <a:r>
              <a:t>│                                 │</a:t>
            </a:r>
            <a:br/>
            <a:r>
              <a:t>│ Metric: po_total_spend          │</a:t>
            </a:r>
            <a:br/>
            <a:r>
              <a:t>│ Type: SUM                       │</a:t>
            </a:r>
            <a:br/>
            <a:r>
              <a:t>│ Value: po_amount                │</a:t>
            </a:r>
            <a:br/>
            <a:r>
              <a:t>│ Breakdown: currency             │</a:t>
            </a:r>
            <a:br/>
            <a:r>
              <a:t>│ Dimensions: entity, region,     │</a:t>
            </a:r>
            <a:br/>
            <a:r>
              <a:t>│   cost_center                   │</a:t>
            </a:r>
            <a:br/>
            <a:r>
              <a:t>│ Filters: po_amount &gt; 300,       │</a:t>
            </a:r>
            <a:br/>
            <a:r>
              <a:t>│   line_category IN [AHU, GEN]   │</a:t>
            </a:r>
            <a:br/>
            <a:r>
              <a:t>│ Periods: MTD, QTD, YTD          │</a:t>
            </a:r>
            <a:br/>
            <a:r>
              <a:t>│                                 │</a:t>
            </a:r>
            <a:br/>
            <a:r>
              <a:t>│ metadata:                       │</a:t>
            </a:r>
            <a:br/>
            <a:r>
              <a:t>│   namespace: veritas_po_metrics │</a:t>
            </a:r>
            <a:br/>
            <a:r>
              <a:t>│   metric: po_total_spend        │</a:t>
            </a:r>
            <a:br/>
            <a:r>
              <a:t>│   type: metric_definition       │</a:t>
            </a:r>
            <a:br/>
            <a:r>
              <a:t>└─────────────────────────────────┘</a:t>
            </a:r>
            <a:br/>
            <a:br/>
            <a:r>
              <a:t>Complete definition + metadata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Knowledge Base: What We Ingest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Metric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14 P0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po_total_spend, po_aging_not_invoiced,</a:t>
            </a:r>
            <a:br/>
            <a:r>
              <a:t>invoice_variance, asset_value_mismatch,</a:t>
            </a:r>
            <a:br/>
            <a:r>
              <a:t>asset_create_count, failed_creates, etc.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Reconciliation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Matching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lang="en-US" dirty="0"/>
              <a:t>GL</a:t>
            </a:r>
            <a:r>
              <a:rPr dirty="0"/>
              <a:t> ↔ sub-ledger matching,</a:t>
            </a:r>
            <a:br>
              <a:rPr dirty="0"/>
            </a:br>
            <a:r>
              <a:rPr dirty="0"/>
              <a:t>invoice ↔ PO receipt matching,</a:t>
            </a:r>
            <a:br>
              <a:rPr dirty="0"/>
            </a:br>
            <a:r>
              <a:rPr dirty="0"/>
              <a:t>asset value ↔ GL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Policy &amp;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Audit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/>
              <a:t>PCI data retention, SOX controls,</a:t>
            </a:r>
            <a:br>
              <a:rPr dirty="0"/>
            </a:br>
            <a:r>
              <a:rPr dirty="0"/>
              <a:t>period close procedures, GRC controls,</a:t>
            </a:r>
            <a:br>
              <a:rPr dirty="0"/>
            </a:br>
            <a:r>
              <a:rPr dirty="0"/>
              <a:t>threshold configurations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280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288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System Configs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73BB"/>
                </a:solidFill>
              </a:defRPr>
            </a:pPr>
            <a:r>
              <a:t>Namespace definitions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34640"/>
            <a:ext cx="233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 err="1"/>
              <a:t>po_metrics</a:t>
            </a:r>
            <a:r>
              <a:rPr dirty="0"/>
              <a:t>, </a:t>
            </a:r>
            <a:r>
              <a:rPr dirty="0" err="1"/>
              <a:t>asset_metrics</a:t>
            </a:r>
            <a:r>
              <a:rPr dirty="0"/>
              <a:t>,</a:t>
            </a:r>
            <a:br>
              <a:rPr dirty="0"/>
            </a:br>
            <a:r>
              <a:rPr dirty="0"/>
              <a:t>reconciliation — JSON configs with</a:t>
            </a:r>
            <a:br>
              <a:rPr dirty="0"/>
            </a:br>
            <a:r>
              <a:rPr dirty="0"/>
              <a:t>query, dimensions, filters, periods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Bedrock KB Pipeline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S3 (metric docs)  →  Parsing  →  Custom Lambda Chunking  →  Titan Embeddings V2  →  OpenSearch Serverless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640080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Custom chunker: split by namespace + metric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# Lambda chunker preserves metric structure</a:t>
            </a:r>
            <a:br/>
            <a:r>
              <a:t>def chunk_by_namespace(text, source):</a:t>
            </a:r>
            <a:br/>
            <a:r>
              <a:t>    """Split on namespace boundaries,</a:t>
            </a:r>
            <a:br/>
            <a:r>
              <a:t>    keep each MetricDefinition intact."""</a:t>
            </a:r>
            <a:br/>
            <a:r>
              <a:t>    sections = re.split(</a:t>
            </a:r>
            <a:br/>
            <a:r>
              <a:t>        r'\n(?=##+ |\{\s*"name")', text</a:t>
            </a:r>
            <a:br/>
            <a:r>
              <a:t>    )</a:t>
            </a:r>
            <a:br/>
            <a:r>
              <a:t>    chunks = []</a:t>
            </a:r>
            <a:br/>
            <a:r>
              <a:t>    for section in sections:</a:t>
            </a:r>
            <a:br/>
            <a:r>
              <a:t>        chunks.append({</a:t>
            </a:r>
            <a:br/>
            <a:r>
              <a:t>            "content": section,</a:t>
            </a:r>
            <a:br/>
            <a:r>
              <a:t>            "metadata": {</a:t>
            </a:r>
            <a:br/>
            <a:r>
              <a:t>                "namespace": extract_ns(section),</a:t>
            </a:r>
            <a:br/>
            <a:r>
              <a:t>                "metric_name": extract_metric(section),</a:t>
            </a:r>
            <a:br/>
            <a:r>
              <a:t>                "doc_type": classify_doc(section),</a:t>
            </a:r>
            <a:br/>
            <a:r>
              <a:t>                "source": source,</a:t>
            </a:r>
            <a:br/>
            <a:r>
              <a:t>            },</a:t>
            </a:r>
            <a:br/>
            <a:r>
              <a:t>        })</a:t>
            </a:r>
            <a:br/>
            <a:r>
              <a:t>    return chunks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011680"/>
            <a:ext cx="3931920" cy="4389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Query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4320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💬 "What metrics track PO aging?"</a:t>
            </a:r>
            <a:br/>
            <a:br/>
            <a:r>
              <a:t>Agent retrieves:</a:t>
            </a:r>
            <a:br/>
            <a:br/>
            <a:r>
              <a:t>  [0.94] po_aging_not_invoiced</a:t>
            </a:r>
            <a:br/>
            <a:r>
              <a:t>    Type: COUNT + SUM</a:t>
            </a:r>
            <a:br/>
            <a:r>
              <a:t>    Threshold: &gt;90 days</a:t>
            </a:r>
            <a:br/>
            <a:r>
              <a:t>    Dimensions: entity, currency</a:t>
            </a:r>
            <a:br/>
            <a:r>
              <a:t>    Periods: MTD, QTD</a:t>
            </a:r>
            <a:br/>
            <a:br/>
            <a:r>
              <a:t>  [0.87] po_total_spend</a:t>
            </a:r>
            <a:br/>
            <a:r>
              <a:t>    Type: SUM</a:t>
            </a:r>
            <a:br/>
            <a:r>
              <a:t>    Filter: po_amount &gt; 300</a:t>
            </a:r>
            <a:br/>
            <a:br/>
            <a:r>
              <a:t>Complete definitions with all</a:t>
            </a:r>
            <a:br/>
            <a:r>
              <a:t>filters, dimensions, periods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Hands-On: Build the AFS Knowledge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dirty="0"/>
              <a:t>Upload docs to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72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Metric defs, recon rules, policies, configs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dirty="0"/>
              <a:t>Create Bedrock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414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Titan Embeddings V2 + OpenSearch Serverless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dirty="0"/>
              <a:t>Query with default chunking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10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See the split-definition bug in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59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794759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40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Deploy custom Lambda chunker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7880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rPr dirty="0"/>
              <a:t>Namespace-aware splitting +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dirty="0"/>
              <a:t>Re-query — complete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"What metrics track PO aging?" → full definition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10515600" cy="749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0" cy="749808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Compare retrieval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9161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Side-by-side: fixed vs semantic vs custom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Context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Building the event clock: WHY metrics are defined the way they 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Financial Operations as a Graph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1ED40-19E1-6DEA-7F0A-A8782E821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1243142"/>
            <a:ext cx="9742713" cy="4790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Neptune Analytics: AFS Graph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Node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S</a:t>
            </a:r>
            <a:r>
              <a:rPr lang="en-US" dirty="0"/>
              <a:t>upply Chain</a:t>
            </a:r>
            <a:r>
              <a:rPr dirty="0"/>
              <a:t>, </a:t>
            </a:r>
            <a:r>
              <a:rPr lang="en-US" dirty="0"/>
              <a:t>Invoice</a:t>
            </a:r>
            <a:r>
              <a:rPr dirty="0"/>
              <a:t>, </a:t>
            </a:r>
            <a:r>
              <a:rPr lang="en-US" dirty="0"/>
              <a:t>GL</a:t>
            </a:r>
            <a:r>
              <a:rPr dirty="0"/>
              <a:t>, S</a:t>
            </a:r>
            <a:r>
              <a:rPr lang="en-US" dirty="0"/>
              <a:t>L</a:t>
            </a:r>
            <a:r>
              <a:rPr dirty="0"/>
              <a:t>, 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po_total_spend, asset_create_count,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Namespace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 err="1"/>
              <a:t>po_metrics</a:t>
            </a:r>
            <a:r>
              <a:rPr dirty="0"/>
              <a:t>, </a:t>
            </a:r>
            <a:r>
              <a:rPr dirty="0" err="1"/>
              <a:t>asset_metrics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Dimension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entity, region, cost_center, 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Q4-AUDIT, FY24-GAAP, threshold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2025-03 MTD, 2025-Q1 QTD, FY2025 YTD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669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3BB"/>
                </a:solidFill>
              </a:defRPr>
            </a:pPr>
            <a:r>
              <a:t>DecisionTrace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69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Agent reasoning captured at runtime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Relationship 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FEEDS_INTO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1828800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S</a:t>
            </a:r>
            <a:r>
              <a:rPr lang="en-US" dirty="0"/>
              <a:t>upply Chain</a:t>
            </a:r>
            <a:r>
              <a:rPr dirty="0"/>
              <a:t> → PO → </a:t>
            </a:r>
            <a:r>
              <a:rPr lang="en-US" dirty="0"/>
              <a:t>Invoice</a:t>
            </a:r>
            <a:r>
              <a:rPr dirty="0"/>
              <a:t> → FS → </a:t>
            </a:r>
            <a:r>
              <a:rPr lang="en-US" dirty="0"/>
              <a:t>SL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67512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DEFINES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Namespace → Metric definitions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HAS_DIMENSION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Metric → entity, region, currency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RECONCILES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611880"/>
            <a:ext cx="2468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lang="en-US" dirty="0"/>
              <a:t>GL</a:t>
            </a:r>
            <a:r>
              <a:rPr dirty="0"/>
              <a:t> ↔ SL matching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DECIDED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206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Decision → changed threshold/config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CAUSED_BY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Metric change → audit finding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CONSIDERED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DecisionTrace → entities evaluated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989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REPLACES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989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New config → old config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GraphRAG: Why Vector Search Alone Fails for AFS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"Why did we change the PO aging threshold from 60 to 90 days?"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926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3BB"/>
                </a:solidFill>
              </a:defRPr>
            </a:pPr>
            <a:r>
              <a:t>🔍  Vector 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Returns similar text:</a:t>
            </a:r>
            <a:br/>
            <a:br/>
            <a:r>
              <a:t>  [0.91] "PO aging threshold: 90 days"</a:t>
            </a:r>
            <a:br/>
            <a:r>
              <a:t>  [0.84] "Filter: po_amount &gt; 300"</a:t>
            </a:r>
            <a:br/>
            <a:r>
              <a:t>  [0.79] "Periods: MTD, QTD, YTD"</a:t>
            </a:r>
            <a:br/>
            <a:br/>
            <a:r>
              <a:t>Knows the current value (90 days)</a:t>
            </a:r>
            <a:br/>
            <a:r>
              <a:t>but NOT why it changed 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2926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🔗  Graph + Vector (GraphRAG)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Returns relationships + decisions:</a:t>
            </a:r>
            <a:br/>
            <a:br/>
            <a:r>
              <a:t>  Decision: Q4-2024-AUDIT</a:t>
            </a:r>
            <a:br/>
            <a:r>
              <a:t>    ──DECIDED──▶ PO aging = 90 days</a:t>
            </a:r>
            <a:br/>
            <a:r>
              <a:t>    ──CAUSED_BY──▶ "60-day threshold</a:t>
            </a:r>
            <a:br/>
            <a:r>
              <a:t>      flagged 40% false positives"</a:t>
            </a:r>
            <a:br/>
            <a:r>
              <a:t>    ──REPLACES──▶ PO aging = 60 days</a:t>
            </a:r>
            <a:br/>
            <a:br/>
            <a:r>
              <a:t>Knows WHAT and WHY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Decision Traces for Month-End 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2F3F3"/>
                </a:solidFill>
              </a:defRPr>
            </a:pPr>
            <a:r>
              <a:t>Every month-end decision gets recorded: "Approved 47 POs as low-risk because all &lt;$100K and within 120-day window"</a:t>
            </a:r>
            <a:br/>
            <a:r>
              <a:t>→ Next quarter's analyst finds this trace and understands the precedent without asking anyone</a:t>
            </a:r>
            <a:br/>
            <a:r>
              <a:t>→ The system builds institutional memory — like case law for financial operations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Hands-On: Build the F</a:t>
            </a:r>
            <a:r>
              <a:rPr lang="en-US" dirty="0"/>
              <a:t>ixed Asset </a:t>
            </a:r>
            <a:r>
              <a:rPr dirty="0"/>
              <a:t>S</a:t>
            </a:r>
            <a:r>
              <a:rPr lang="en-US" dirty="0"/>
              <a:t>ystem</a:t>
            </a:r>
            <a:r>
              <a:rPr dirty="0"/>
              <a:t> Context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Create Neptune Analytics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32 GB with vector search (1024-dim)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Extract entities from AFS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06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Claude extracts systems, metrics, decisions,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Populate graph with openCypher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Nodes: System, Metric, Namespace, Decision + edges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Query: vector + graph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"Why 90-day PO aging?" → decision trace + current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0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Record a decision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Simulate month-end: classify POs, record reasoning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E0A0"/>
                </a:solidFill>
              </a:defRPr>
            </a:pPr>
            <a:r>
              <a:t>CALL neptune.algo.vectors.topKByNode({queryVector: {embedding}, topK: 5}) YIELD node, score OPTIONAL MATCH (node)-[r]-(connected) RETURN node.name, type(r), connected.name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FS </a:t>
            </a:r>
            <a:r>
              <a:rPr dirty="0" err="1"/>
              <a:t>MetricOutput</a:t>
            </a:r>
            <a:r>
              <a:rPr dirty="0"/>
              <a:t> in the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MetricOutput: po_total_spend (March MTD)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{</a:t>
            </a:r>
            <a:br/>
            <a:r>
              <a:t>  "metric_id": "po_total_spend",</a:t>
            </a:r>
            <a:br/>
            <a:r>
              <a:t>  "period_type": "mtd",</a:t>
            </a:r>
            <a:br/>
            <a:r>
              <a:t>  "period": "2025-03",</a:t>
            </a:r>
            <a:br/>
            <a:r>
              <a:t>  "metric_value": {</a:t>
            </a:r>
            <a:br/>
            <a:r>
              <a:t>    "total": "5,000,000.00",</a:t>
            </a:r>
            <a:br/>
            <a:r>
              <a:t>    "group_by": {</a:t>
            </a:r>
            <a:br/>
            <a:r>
              <a:t>      "USD": "2,000,000.00",</a:t>
            </a:r>
            <a:br/>
            <a:r>
              <a:t>      "EUR": "2,500,000.00",</a:t>
            </a:r>
            <a:br/>
            <a:r>
              <a:t>      "GBP": "500,000.00"</a:t>
            </a:r>
            <a:br/>
            <a:r>
              <a:t>    },</a:t>
            </a:r>
            <a:br/>
            <a:r>
              <a:t>    "items": ["PO001","PO002",...]</a:t>
            </a:r>
            <a:br/>
            <a:r>
              <a:t>  },</a:t>
            </a:r>
            <a:br/>
            <a:r>
              <a:t>  "breakdown": {</a:t>
            </a:r>
            <a:br/>
            <a:r>
              <a:t>    "EMEA": {</a:t>
            </a:r>
            <a:br/>
            <a:r>
              <a:t>      "total": "3,000,000.00",</a:t>
            </a:r>
            <a:br/>
            <a:r>
              <a:t>      "EU_WEST": {</a:t>
            </a:r>
            <a:br/>
            <a:r>
              <a:t>        "CC123": "1,500,000.00",</a:t>
            </a:r>
            <a:br/>
            <a:r>
              <a:t>        "CC124": "1,000,000.00"</a:t>
            </a:r>
            <a:br/>
            <a:r>
              <a:t>      }</a:t>
            </a:r>
            <a:br/>
            <a:r>
              <a:t>    },</a:t>
            </a:r>
            <a:br/>
            <a:r>
              <a:t>    "NA": {</a:t>
            </a:r>
            <a:br/>
            <a:r>
              <a:t>      "total": "2,000,000.00",</a:t>
            </a:r>
            <a:br/>
            <a:r>
              <a:t>      "US_WEST": {</a:t>
            </a:r>
            <a:br/>
            <a:r>
              <a:t>        "CC126": "2,000,000.00"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188720"/>
            <a:ext cx="484632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Graph Captures the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📊  Metric node: po_total_spend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HAS_DIMENSION → entity, region, CC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BELONGS_TO → veritas_po_metrics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📅  Period node: 2025-03 MTD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SNAPSHOT → $5M total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BREAKDOWN → EMEA $3M, NA $2M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⚖️  Decision: Q4-2024-AUDIT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DECIDED → filter: po_amount &gt; 300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CAUSED_BY → false positive reduction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📝  DecisionTrace: MAR-2025-CLOSE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APPROVED → 47 POs as low-risk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  → REASONING → all &lt;$100K, &lt;120 days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This is the event clock —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every number has a story behind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Complete AFS Agent: Four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97480" cy="7315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3BB"/>
                </a:solidFill>
              </a:defRPr>
            </a:pPr>
            <a: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rPr dirty="0"/>
              <a:t>Bedrock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 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Metric definitions, recon rules,</a:t>
            </a:r>
            <a:br/>
            <a:r>
              <a:t>namespace configs, compliance</a:t>
            </a:r>
            <a:br/>
            <a:r>
              <a:t>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search_context_graph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Neptune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System relationships, decision</a:t>
            </a:r>
            <a:br/>
            <a:r>
              <a:t>history, threshold rationale,</a:t>
            </a:r>
            <a:br/>
            <a:r>
              <a:t>email 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697480" cy="73152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660F"/>
                </a:solidFill>
              </a:defRPr>
            </a:pPr>
            <a:r>
              <a:t>record_decision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Neptune 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Builds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Captures agent reasoning as</a:t>
            </a:r>
            <a:br/>
            <a:r>
              <a:t>decision traces — audit trail</a:t>
            </a:r>
            <a:br/>
            <a:r>
              <a:t>for future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188720"/>
            <a:ext cx="2697480" cy="5029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06840" y="1188720"/>
            <a:ext cx="2697480" cy="73152"/>
          </a:xfrm>
          <a:prstGeom prst="rect">
            <a:avLst/>
          </a:prstGeom>
          <a:solidFill>
            <a:srgbClr val="BB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1371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19202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55FF"/>
                </a:solidFill>
              </a:defRPr>
            </a:pPr>
            <a:r>
              <a:t>ingest_email_decision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28600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565B"/>
                </a:solidFill>
              </a:defRPr>
            </a:pPr>
            <a:r>
              <a:t>Claude + Neptune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74320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Captures Email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2918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F3F3"/>
                </a:solidFill>
              </a:defRPr>
            </a:pPr>
            <a:r>
              <a:t>Extracts decisions from email</a:t>
            </a:r>
            <a:br/>
            <a:r>
              <a:t>threads, creates Decision nodes,</a:t>
            </a:r>
            <a:br/>
            <a:r>
              <a:t>links to affected entities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flow:  Search KB (WHAT) → Search Graph (WHY) → Act → Record Decision → Ingest Emails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Capturing Decisions from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2F3F3"/>
                </a:solidFill>
              </a:defRPr>
            </a:pPr>
            <a:r>
              <a:t>Most financial decisions happen in email — they're the biggest source of lost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📧  Input: Email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9377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rPr dirty="0"/>
              <a:t>From: Sarah Chen (</a:t>
            </a:r>
            <a:r>
              <a:rPr dirty="0" err="1"/>
              <a:t>CapEx</a:t>
            </a:r>
            <a:r>
              <a:rPr dirty="0"/>
              <a:t> Lead)</a:t>
            </a:r>
            <a:br>
              <a:rPr dirty="0"/>
            </a:br>
            <a:r>
              <a:rPr dirty="0"/>
              <a:t>Date: 2024-10-15</a:t>
            </a:r>
            <a:br>
              <a:rPr dirty="0"/>
            </a:br>
            <a:r>
              <a:rPr dirty="0"/>
              <a:t>Subject: RE: PO Aging Threshold Review</a:t>
            </a:r>
            <a:br>
              <a:rPr dirty="0"/>
            </a:br>
            <a:br>
              <a:rPr dirty="0"/>
            </a:br>
            <a:r>
              <a:rPr dirty="0"/>
              <a:t>After reviewing the Q4 audit findings,</a:t>
            </a:r>
            <a:br>
              <a:rPr dirty="0"/>
            </a:br>
            <a:r>
              <a:rPr dirty="0"/>
              <a:t>I'm approving the change to increase</a:t>
            </a:r>
            <a:br>
              <a:rPr dirty="0"/>
            </a:br>
            <a:r>
              <a:rPr dirty="0"/>
              <a:t>the PO aging threshold from 60 days to</a:t>
            </a:r>
            <a:br>
              <a:rPr dirty="0"/>
            </a:br>
            <a:r>
              <a:rPr dirty="0"/>
              <a:t>90 days. The 60-day threshold was</a:t>
            </a:r>
            <a:br>
              <a:rPr dirty="0"/>
            </a:br>
            <a:r>
              <a:rPr dirty="0"/>
              <a:t>generating approximately 40% false</a:t>
            </a:r>
            <a:br>
              <a:rPr dirty="0"/>
            </a:br>
            <a:r>
              <a:rPr dirty="0"/>
              <a:t>positives during the Q3 close cycle.</a:t>
            </a:r>
            <a:br>
              <a:rPr dirty="0"/>
            </a:br>
            <a:r>
              <a:rPr dirty="0"/>
              <a:t>The audit team confirmed that 90 days</a:t>
            </a:r>
            <a:br>
              <a:rPr dirty="0"/>
            </a:br>
            <a:r>
              <a:rPr dirty="0"/>
              <a:t>better reflects actual procurement</a:t>
            </a:r>
            <a:br>
              <a:rPr dirty="0"/>
            </a:br>
            <a:r>
              <a:rPr dirty="0"/>
              <a:t>timelines for infrastructure equipment.</a:t>
            </a:r>
            <a:br>
              <a:rPr dirty="0"/>
            </a:br>
            <a:r>
              <a:rPr dirty="0"/>
              <a:t>Expected to reduce false positive</a:t>
            </a:r>
            <a:br>
              <a:rPr dirty="0"/>
            </a:br>
            <a:r>
              <a:rPr dirty="0"/>
              <a:t>alerts by ~35%.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🔗  Output: Decision Node in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66344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E0A0"/>
                </a:solidFill>
              </a:defRPr>
            </a:pPr>
            <a:r>
              <a:rPr dirty="0" err="1"/>
              <a:t>ingest_email_decision</a:t>
            </a:r>
            <a:r>
              <a:rPr dirty="0"/>
              <a:t>(</a:t>
            </a:r>
            <a:r>
              <a:rPr dirty="0" err="1"/>
              <a:t>email_text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→ Claude extracts structured decision:</a:t>
            </a:r>
            <a:br>
              <a:rPr dirty="0"/>
            </a:br>
            <a:br>
              <a:rPr dirty="0"/>
            </a:br>
            <a:r>
              <a:rPr dirty="0"/>
              <a:t>  Decision: Q4-2024-AUDIT</a:t>
            </a:r>
            <a:br>
              <a:rPr dirty="0"/>
            </a:br>
            <a:r>
              <a:rPr dirty="0"/>
              <a:t>  Title: PO aging threshold 60→90 days</a:t>
            </a:r>
            <a:br>
              <a:rPr dirty="0"/>
            </a:br>
            <a:r>
              <a:rPr dirty="0"/>
              <a:t>  Date: 2024-10-15</a:t>
            </a:r>
            <a:br>
              <a:rPr dirty="0"/>
            </a:br>
            <a:r>
              <a:rPr dirty="0"/>
              <a:t>  Decided by: Sarah Chen, </a:t>
            </a:r>
            <a:r>
              <a:rPr dirty="0" err="1"/>
              <a:t>CapEx</a:t>
            </a:r>
            <a:r>
              <a:rPr dirty="0"/>
              <a:t> Lead</a:t>
            </a:r>
            <a:br>
              <a:rPr dirty="0"/>
            </a:br>
            <a:r>
              <a:rPr dirty="0"/>
              <a:t>  Rationale: 40% false positives at 60d</a:t>
            </a:r>
            <a:br>
              <a:rPr dirty="0"/>
            </a:br>
            <a:r>
              <a:rPr dirty="0"/>
              <a:t>  Impact: ~35% reduction in false alerts</a:t>
            </a:r>
            <a:br>
              <a:rPr dirty="0"/>
            </a:br>
            <a:br>
              <a:rPr dirty="0"/>
            </a:br>
            <a:r>
              <a:rPr dirty="0"/>
              <a:t>→ Creates Decision node with embedding</a:t>
            </a:r>
            <a:br>
              <a:rPr dirty="0"/>
            </a:br>
            <a:r>
              <a:rPr dirty="0"/>
              <a:t>→ Links to affected entities:</a:t>
            </a:r>
            <a:br>
              <a:rPr dirty="0"/>
            </a:br>
            <a:r>
              <a:rPr dirty="0"/>
              <a:t>    AFFECTS → </a:t>
            </a:r>
            <a:r>
              <a:rPr dirty="0" err="1"/>
              <a:t>po_aging_not_invoiced</a:t>
            </a:r>
            <a:br>
              <a:rPr dirty="0"/>
            </a:br>
            <a:r>
              <a:rPr dirty="0"/>
              <a:t>    AFFECTS → </a:t>
            </a:r>
            <a:r>
              <a:rPr dirty="0" err="1"/>
              <a:t>po_metrics</a:t>
            </a:r>
            <a:br>
              <a:rPr dirty="0"/>
            </a:br>
            <a:br>
              <a:rPr dirty="0"/>
            </a:br>
            <a:r>
              <a:rPr dirty="0"/>
              <a:t>→ Searchable forever via graph queries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2F3F3"/>
                </a:solidFill>
              </a:defRPr>
            </a:pPr>
            <a:r>
              <a:t>Context graph captures decisions from:  📄 Documents  •  🤖 Agent interactions  •  📧 Email threads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Agentic AI with Strands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2F3F3"/>
                </a:solidFill>
              </a:defRPr>
            </a:pPr>
            <a:r>
              <a:t>From manual investigation to an agent that queries, classifies, and records decisions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From Manual Investigation → Intelligent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12"/>
                </a:solidFill>
              </a:defRPr>
            </a:pPr>
            <a:r>
              <a:t>Before: Manual Month-End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1. Open DataStudio, write SQL query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for PO aging report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2. Export to Excel, filter by region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3. Cross-reference with Alteryx output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for reconciliation status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4. Email finance team with findings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5. Manually classify risk levels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6. Document decisions in... nowhere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(lost by next quarter)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⏱️  4-6 hours per analyst per close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212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660F"/>
                </a:solidFill>
              </a:defRPr>
            </a:pPr>
            <a:r>
              <a:t>After: Strands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"Show me PO aging for EMEA"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Searches KB for metric definition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Queries graph for thresholds + context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Returns structured breakdown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"Classify risk on these POs"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Calls classify_risk tool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12 high-risk (&gt;$500K), 35 low-risk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"Why is this threshold 90 days?"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Graph: Q4-2024-AUDIT decision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💬 "Approve the low-risk POs"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Records decision trace with reasoning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   → Available for next quarter's close ✅</a:t>
            </a:r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F2F3F3"/>
                </a:solidFill>
              </a:defRPr>
            </a:pPr>
            <a:r>
              <a:t>⏱️  15 minutes with full audit trail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AFS Metrics Agent: The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658368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integrated_agent.py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E0A0"/>
                </a:solidFill>
              </a:defRPr>
            </a:pPr>
            <a:r>
              <a:t>from strands import Agent, tool</a:t>
            </a:r>
            <a:br/>
            <a:r>
              <a:t>from strands.models.bedrock import BedrockModel</a:t>
            </a:r>
            <a:br/>
            <a:r>
              <a:t>from strands_tools import retrieve</a:t>
            </a:r>
            <a:br/>
            <a:r>
              <a:t>from tools.graph_tools import (</a:t>
            </a:r>
            <a:br/>
            <a:r>
              <a:t>    search_context_graph,</a:t>
            </a:r>
            <a:br/>
            <a:r>
              <a:t>    record_decision,</a:t>
            </a:r>
            <a:br/>
            <a:r>
              <a:t>)</a:t>
            </a:r>
            <a:br/>
            <a:br/>
            <a:r>
              <a:t>@tool</a:t>
            </a:r>
            <a:br/>
            <a:r>
              <a:t>def classify_risk(po_count: int,</a:t>
            </a:r>
            <a:br/>
            <a:r>
              <a:t>    total_amount: float, threshold: float</a:t>
            </a:r>
            <a:br/>
            <a:r>
              <a:t>) -&gt; str:</a:t>
            </a:r>
            <a:br/>
            <a:r>
              <a:t>    """Classify PO risk based on amount</a:t>
            </a:r>
            <a:br/>
            <a:r>
              <a:t>    and aging threshold."""</a:t>
            </a:r>
            <a:br/>
            <a:r>
              <a:t>    if total_amount &gt; threshold:</a:t>
            </a:r>
            <a:br/>
            <a:r>
              <a:t>        return f"HIGH RISK: {po_count} POs,"\</a:t>
            </a:r>
            <a:br/>
            <a:r>
              <a:t>               f" ${total_amount:,.0f} total"</a:t>
            </a:r>
            <a:br/>
            <a:r>
              <a:t>    return f"LOW RISK: {po_count} POs,"\</a:t>
            </a:r>
            <a:br/>
            <a:r>
              <a:t>           f" ${total_amount:,.0f} total"</a:t>
            </a:r>
            <a:br/>
            <a:br/>
            <a:r>
              <a:t>agent = Agent(</a:t>
            </a:r>
            <a:br/>
            <a:r>
              <a:t>    model=BedrockModel(</a:t>
            </a:r>
            <a:br/>
            <a:r>
              <a:t>        model_id="anthropic.claude-3-5-</a:t>
            </a:r>
            <a:br/>
            <a:r>
              <a:t>                  sonnet-20241022-v2:0"</a:t>
            </a:r>
            <a:br/>
            <a:r>
              <a:t>    ),</a:t>
            </a:r>
            <a:br/>
            <a:r>
              <a:t>    tools=[</a:t>
            </a:r>
            <a:br/>
            <a:r>
              <a:t>        retrieve,             # KB: metrics</a:t>
            </a:r>
            <a:br/>
            <a:r>
              <a:t>        search_context_graph, # Graph: WHY</a:t>
            </a:r>
            <a:br/>
            <a:r>
              <a:t>        record_decision,      # Audit trail</a:t>
            </a:r>
            <a:br/>
            <a:r>
              <a:t>        classify_risk,        # Take action</a:t>
            </a:r>
            <a:br/>
            <a:r>
              <a:t>    ],</a:t>
            </a:r>
            <a:br/>
            <a:r>
              <a:t>    system_prompt=</a:t>
            </a:r>
            <a:br/>
            <a:r>
              <a:t>        "You are the AFS Metrics Assistant."</a:t>
            </a:r>
            <a:br/>
            <a:r>
              <a:t>        " Search KB for metric definitions."</a:t>
            </a:r>
            <a:br/>
            <a:r>
              <a:t>        " Query graph for decision history."</a:t>
            </a:r>
            <a:br/>
            <a:r>
              <a:t>        " Record your reasoning as traces.",</a:t>
            </a:r>
            <a:br/>
            <a: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097280"/>
            <a:ext cx="3749039" cy="53035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900"/>
                </a:solidFill>
              </a:defRPr>
            </a:pPr>
            <a:r>
              <a:t>Agent's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40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Bedrock KB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Metric definitions, recon rules,</a:t>
            </a:r>
            <a:br/>
            <a:r>
              <a:t>policy docs, namespace configs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search_context_graph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Neptune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System relationships, decisions,</a:t>
            </a:r>
            <a:br/>
            <a:r>
              <a:t>threshold change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record_decision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34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Neptune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Captures month-end decisions</a:t>
            </a:r>
            <a:br/>
            <a:r>
              <a:t>for future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2120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120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3BB"/>
                </a:solidFill>
              </a:defRPr>
            </a:pPr>
            <a:r>
              <a:t>classify_risk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5321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4565B"/>
                </a:solidFill>
              </a:defRPr>
            </a:pPr>
            <a:r>
              <a:t>Business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7607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Classifies PO risk based on</a:t>
            </a:r>
            <a:br/>
            <a:r>
              <a:t>amount and aging thresholds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Demo: Month-End Close with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"What metrics track PO aging</a:t>
            </a:r>
            <a:br/>
            <a:r>
              <a:t> for the LLE category?"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0972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11430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finds po_aging_not_invoiced metric</a:t>
            </a:r>
            <a:br/>
            <a:r>
              <a:t>→ Returns: COUNT + SUM, threshold &gt;90 days,</a:t>
            </a:r>
            <a:br/>
            <a:r>
              <a:t>   dimensions: entity, currency, cost_center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1143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KB retrieval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688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is the threshold 90 days</a:t>
            </a:r>
            <a:br/>
            <a:r>
              <a:t> and not 60?"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4688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25146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search_context_graph: finds Q4-2024-AUDIT</a:t>
            </a:r>
            <a:br/>
            <a:r>
              <a:t>→ Returns: "60-day flagged 40% false positives.</a:t>
            </a:r>
            <a:br/>
            <a:r>
              <a:t>   Changed to 90 per audit recommendation."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Graph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8404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"Show me EMEA POs aging &gt;90</a:t>
            </a:r>
            <a:br/>
            <a:r>
              <a:t> days. Classify the risk."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8404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0" y="38862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gets metric definition + filters</a:t>
            </a:r>
            <a:br/>
            <a:r>
              <a:t>→ classify_risk: 12 HIGH ($3.2M), 35 LOW ($800K)</a:t>
            </a:r>
            <a:br/>
            <a:r>
              <a:t>→ record_decision: saves classification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Action + trace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12080"/>
            <a:ext cx="457200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212080"/>
            <a:ext cx="4114800" cy="12344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2578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"Compare March vs February</a:t>
            </a:r>
            <a:br/>
            <a:r>
              <a:t> failed asset creates.</a:t>
            </a:r>
            <a:br/>
            <a:r>
              <a:t> What changed?"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5212080"/>
            <a:ext cx="5760720" cy="123444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5257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2F3F3"/>
                </a:solidFill>
              </a:defRPr>
            </a:pPr>
            <a:r>
              <a:t>→ retrieve: asset_create_failures metric</a:t>
            </a:r>
            <a:br/>
            <a:r>
              <a:t>→ search_context_graph: finds MAR-15 onboarding</a:t>
            </a:r>
            <a:br/>
            <a:r>
              <a:t>→ "GENERATOR category added March 15 — 15 of 23</a:t>
            </a:r>
            <a:br/>
            <a:r>
              <a:t>   failures are new GENERATOR assets"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4565B"/>
                </a:solidFill>
              </a:defRPr>
            </a:pPr>
            <a:r>
              <a:t>KB + Graph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Hands-On: Build the AFS Metrics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Simple agent + KB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agent("What metrics track PO aging?") → full 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40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classify_risk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3347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agent("Classify these 47 POs") → HIGH/LOW risk with amounts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Add graph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3931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agent("Why 90-day threshold?") → Q4-2024-AUDIT decision trace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Full integrated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4515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KB + graph + classify + record_decision — complete assistant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548640" cy="868680"/>
          </a:xfrm>
          <a:prstGeom prst="rect">
            <a:avLst/>
          </a:prstGeom>
          <a:solidFill>
            <a:srgbClr val="1B6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Interactive month-end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65099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Walk through the 4 demo scenarios as the FBI CapEx analyst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AFS Metrics: Before vs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97280"/>
            <a:ext cx="3657600" cy="45720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13412"/>
                </a:solidFill>
              </a:defRPr>
            </a:pPr>
            <a:r>
              <a:t>Before (Manual)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097280"/>
            <a:ext cx="3749039" cy="45720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143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660F"/>
                </a:solidFill>
              </a:defRPr>
            </a:pPr>
            <a:r>
              <a:t>After (Agentic 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"What are the PO aging</a:t>
            </a:r>
            <a:br/>
            <a:r>
              <a:t> metrics for LLE?"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2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71907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Search wiki, ask colleague,</a:t>
            </a:r>
            <a:br/>
            <a:r>
              <a:t>find Alteryx workflow 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71907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retrieves full metric</a:t>
            </a:r>
            <a:br/>
            <a:r>
              <a:t>definition with filters,</a:t>
            </a:r>
            <a:br/>
            <a:r>
              <a:t>dimensions, periods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is the PO aging</a:t>
            </a:r>
            <a:br/>
            <a:r>
              <a:t> threshold 90 days?"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88036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295351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"It's always been 90 days"</a:t>
            </a:r>
            <a:br/>
            <a:r>
              <a:t>(tribal knowledge) 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88036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295351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Graph: Q4-2024-AUDIT changed</a:t>
            </a:r>
            <a:br/>
            <a:r>
              <a:t>from 60 → 90 due to false</a:t>
            </a:r>
            <a:br/>
            <a:r>
              <a:t>positives in audit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18795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"Classify risk on 150K</a:t>
            </a:r>
            <a:br/>
            <a:r>
              <a:t> open transactions"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11480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41879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Export to Excel, manually</a:t>
            </a:r>
            <a:br/>
            <a:r>
              <a:t>filter and categorize</a:t>
            </a:r>
            <a:br/>
            <a:r>
              <a:t>(4-6 hours) 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11480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41879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Agent classifies in seconds,</a:t>
            </a:r>
            <a:br/>
            <a:r>
              <a:t>records reasoning as</a:t>
            </a:r>
            <a:br/>
            <a:r>
              <a:t>decision trace 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3474720" cy="10972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"Why did asset creates</a:t>
            </a:r>
            <a:br/>
            <a:r>
              <a:t> fail this month?"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349240"/>
            <a:ext cx="3657600" cy="1097280"/>
          </a:xfrm>
          <a:prstGeom prst="rect">
            <a:avLst/>
          </a:prstGeom>
          <a:solidFill>
            <a:srgbClr val="3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0" y="54223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Check logs, email team,</a:t>
            </a:r>
            <a:br/>
            <a:r>
              <a:t>piece together timeline</a:t>
            </a:r>
            <a:br/>
            <a:r>
              <a:t>(days) 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5349240"/>
            <a:ext cx="3749039" cy="1097280"/>
          </a:xfrm>
          <a:prstGeom prst="rect">
            <a:avLst/>
          </a:prstGeom>
          <a:solidFill>
            <a:srgbClr val="15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542239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Graph: GENERATOR category</a:t>
            </a:r>
            <a:br/>
            <a:r>
              <a:t>onboarded Mar 15 — root</a:t>
            </a:r>
            <a:br/>
            <a:r>
              <a:t>cause in 30 seconds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KB fixes knowledge fragmentation  •  Graph fixes lost context  •  Agent fixes manual investigation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Custom chunking preserves financial document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Namespace-aware chunking keeps metric definitions intact — the difference between a partial answer and a complete one with all filters, dimensions, and periods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Context graphs are the event clock for financial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Every threshold change, audit finding, and category reclassification becomes a searchable decision node — institutional memory that survives team turnover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39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291839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5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The two clock problem is acute in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Reconciliation rules change every quarter but the WHY is lost — context graphs give analysts the case law behind every 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Agentic AI turns investigation into conversation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150K open transactions go from 4-6 hours of manual Excel work to a 15-minute chat with full audit trail via Strands @tool decorator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10515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5394959"/>
            <a:ext cx="9144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7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Decision traces compound across close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5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F3F3"/>
                </a:solidFill>
              </a:defRPr>
            </a:pPr>
            <a:r>
              <a:t>March's month-end decisions become June's precedent — the system builds the institutional knowledge that Alteryx can't capture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77846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</a:defRPr>
            </a:pPr>
            <a:r>
              <a:rPr dirty="0"/>
              <a:t>What's Next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4943" y="3725091"/>
            <a:ext cx="640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rPr dirty="0"/>
              <a:t>🛡️  Bedrock Guardrails for financial data compliance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rPr dirty="0"/>
              <a:t>📊  Connect to </a:t>
            </a:r>
            <a:r>
              <a:rPr dirty="0" err="1"/>
              <a:t>Data</a:t>
            </a:r>
            <a:r>
              <a:rPr lang="en-US" dirty="0" err="1"/>
              <a:t>Lake</a:t>
            </a:r>
            <a:r>
              <a:rPr dirty="0"/>
              <a:t> Redshift for live metric queries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rPr dirty="0"/>
              <a:t>🔄  Auto-ingest Namespace</a:t>
            </a:r>
            <a:r>
              <a:rPr lang="en-US" dirty="0"/>
              <a:t> </a:t>
            </a:r>
            <a:r>
              <a:rPr dirty="0"/>
              <a:t>Definition changes from S3/DDB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rPr dirty="0"/>
              <a:t>📈  </a:t>
            </a:r>
            <a:r>
              <a:rPr dirty="0" err="1"/>
              <a:t>QuickS</a:t>
            </a:r>
            <a:r>
              <a:rPr lang="en-US" dirty="0" err="1"/>
              <a:t>uite</a:t>
            </a:r>
            <a:r>
              <a:rPr dirty="0"/>
              <a:t> dashboards powered by agent-generated insights</a:t>
            </a:r>
          </a:p>
          <a:p>
            <a:pPr>
              <a:spcAft>
                <a:spcPts val="600"/>
              </a:spcAft>
              <a:defRPr sz="1400">
                <a:solidFill>
                  <a:srgbClr val="F2F3F3"/>
                </a:solidFill>
              </a:defRPr>
            </a:pPr>
            <a:r>
              <a:rPr dirty="0"/>
              <a:t>🤖  Multi-agent: separate specialists for PO, </a:t>
            </a:r>
            <a:r>
              <a:rPr lang="en-US" dirty="0"/>
              <a:t>Invoice</a:t>
            </a:r>
            <a:r>
              <a:rPr dirty="0"/>
              <a:t>, Asset, Recon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DB33B-BEDC-0D9D-1831-A4734CFF65D8}"/>
              </a:ext>
            </a:extLst>
          </p:cNvPr>
          <p:cNvSpPr txBox="1"/>
          <p:nvPr/>
        </p:nvSpPr>
        <p:spPr>
          <a:xfrm>
            <a:off x="1807029" y="2318657"/>
            <a:ext cx="902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: https://</a:t>
            </a:r>
            <a:r>
              <a:rPr lang="en-US" dirty="0" err="1">
                <a:solidFill>
                  <a:schemeClr val="bg1"/>
                </a:solidFill>
              </a:rPr>
              <a:t>github.com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monil</a:t>
            </a:r>
            <a:r>
              <a:rPr lang="en-US" dirty="0">
                <a:solidFill>
                  <a:schemeClr val="bg1"/>
                </a:solidFill>
              </a:rPr>
              <a:t>-shah/KGC-Workshop-2026-ContextGraph/tree/main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4036</Words>
  <Application>Microsoft Macintosh PowerPoint</Application>
  <PresentationFormat>Widescreen</PresentationFormat>
  <Paragraphs>392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Shah, Monil</cp:lastModifiedBy>
  <cp:revision>10</cp:revision>
  <dcterms:created xsi:type="dcterms:W3CDTF">2013-01-27T09:14:16Z</dcterms:created>
  <dcterms:modified xsi:type="dcterms:W3CDTF">2026-05-03T17:53:40Z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2026-05-03T16:28:44Z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ebe7b056-cb21-42b1-935c-b122387dc887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