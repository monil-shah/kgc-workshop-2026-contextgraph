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3" r:id="rId20"/>
    <p:sldId id="282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3"/>
  </p:normalViewPr>
  <p:slideViewPr>
    <p:cSldViewPr snapToGrid="0" snapToObjects="1">
      <p:cViewPr varScale="1">
        <p:scale>
          <a:sx n="118" d="100"/>
          <a:sy n="118" d="100"/>
        </p:scale>
        <p:origin x="552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Building Agentic RAG on 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F9900"/>
                </a:solidFill>
              </a:defRPr>
            </a:pPr>
            <a:r>
              <a:rPr dirty="0"/>
              <a:t>Knowledge Bases  •  Context Graphs  • 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48930"/>
            <a:ext cx="10058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2F3F3"/>
                </a:solidFill>
              </a:defRPr>
            </a:pPr>
            <a:r>
              <a:rPr dirty="0"/>
              <a:t>A story of reconciling $1</a:t>
            </a:r>
            <a:r>
              <a:rPr lang="en-US" dirty="0"/>
              <a:t>00</a:t>
            </a:r>
            <a:r>
              <a:rPr dirty="0"/>
              <a:t>B+ in AWS </a:t>
            </a:r>
            <a:r>
              <a:rPr dirty="0" err="1"/>
              <a:t>CapEx</a:t>
            </a:r>
            <a:r>
              <a:rPr dirty="0"/>
              <a:t> transactions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2F3F3"/>
                </a:solidFill>
              </a:defRPr>
            </a:pPr>
            <a:r>
              <a:t>Hands-On Workshop  |  90 Minutes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274197-6BA5-8261-2890-4F0E0EFAE1D8}"/>
              </a:ext>
            </a:extLst>
          </p:cNvPr>
          <p:cNvSpPr txBox="1"/>
          <p:nvPr/>
        </p:nvSpPr>
        <p:spPr>
          <a:xfrm>
            <a:off x="914400" y="4155608"/>
            <a:ext cx="100584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2F3F3"/>
                </a:solidFill>
              </a:defRPr>
            </a:pPr>
            <a:r>
              <a:rPr lang="en-US" dirty="0"/>
              <a:t>Presented By:</a:t>
            </a:r>
            <a:br>
              <a:rPr lang="en-US" dirty="0"/>
            </a:br>
            <a:r>
              <a:rPr lang="en-US" dirty="0"/>
              <a:t>Monil Shah – Senior SDE, AWS</a:t>
            </a:r>
          </a:p>
          <a:p>
            <a:pPr algn="l">
              <a:defRPr sz="2000" b="0">
                <a:solidFill>
                  <a:srgbClr val="F2F3F3"/>
                </a:solidFill>
              </a:defRPr>
            </a:pPr>
            <a:r>
              <a:rPr lang="en-US" dirty="0"/>
              <a:t>Vivek </a:t>
            </a:r>
            <a:r>
              <a:rPr lang="en-US" dirty="0" err="1"/>
              <a:t>Ghatala</a:t>
            </a:r>
            <a:r>
              <a:rPr lang="en-US" dirty="0"/>
              <a:t> – Senior SDE, AWS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dirty="0"/>
              <a:t>The Story: AWS </a:t>
            </a:r>
            <a:r>
              <a:rPr dirty="0" err="1"/>
              <a:t>CapEx</a:t>
            </a:r>
            <a:r>
              <a:rPr dirty="0"/>
              <a:t> Financial Integrity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029200" cy="48463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900"/>
                </a:solidFill>
              </a:defRPr>
            </a:pPr>
            <a:r>
              <a:t>The 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57200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💰  $1</a:t>
            </a:r>
            <a:r>
              <a:rPr lang="en-US" dirty="0"/>
              <a:t>00</a:t>
            </a:r>
            <a:r>
              <a:rPr dirty="0"/>
              <a:t>B+ in infrastructure transactions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     flowing through Veritas automation annually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📊  Multiple disconnected systems: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     P</a:t>
            </a:r>
            <a:r>
              <a:rPr lang="en-US" dirty="0"/>
              <a:t>urchase Orders, Data Centers, Invoices, Accounting Subledgers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👥  Accounting</a:t>
            </a:r>
            <a:r>
              <a:rPr lang="en-US" dirty="0"/>
              <a:t> and</a:t>
            </a:r>
            <a:r>
              <a:rPr dirty="0"/>
              <a:t> Finance teams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     all need reconciliation metrics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🔄  1.5M transactions reduced to ~150K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     open items...but still requires manual investigation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371600"/>
            <a:ext cx="5029200" cy="48463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900"/>
                </a:solidFill>
              </a:defRPr>
            </a:pPr>
            <a:r>
              <a:t>The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21409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3BB"/>
                </a:solidFill>
              </a:defRPr>
            </a:pPr>
            <a:r>
              <a:rPr dirty="0"/>
              <a:t>S</a:t>
            </a:r>
            <a:r>
              <a:rPr lang="en-US" dirty="0"/>
              <a:t>upply Chain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804672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2F3F3"/>
                </a:solidFill>
              </a:defRPr>
            </a:pPr>
            <a:r>
              <a:rPr dirty="0"/>
              <a:t>Procurement &amp; ordering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69436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3BB"/>
                </a:solidFill>
              </a:defRPr>
            </a:pPr>
            <a:r>
              <a:rPr dirty="0"/>
              <a:t>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651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2F3F3"/>
                </a:solidFill>
              </a:defRPr>
            </a:pPr>
            <a:r>
              <a:t>Accounts payable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200399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3BB"/>
                </a:solidFill>
              </a:defRPr>
            </a:pPr>
            <a:r>
              <a:rPr lang="en-US" dirty="0"/>
              <a:t>SL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8046720" y="3145969"/>
            <a:ext cx="3200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2F3F3"/>
                </a:solidFill>
              </a:defRPr>
            </a:pPr>
            <a:r>
              <a:rPr dirty="0"/>
              <a:t> Sub-Ledger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709345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3BB"/>
                </a:solidFill>
              </a:defRPr>
            </a:pPr>
            <a:r>
              <a:rPr dirty="0"/>
              <a:t>FS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5023" y="3693963"/>
            <a:ext cx="3200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2F3F3"/>
                </a:solidFill>
              </a:defRPr>
            </a:pPr>
            <a:r>
              <a:rPr dirty="0"/>
              <a:t>Fixed-asset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0002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3BB"/>
                </a:solidFill>
              </a:defRPr>
            </a:pPr>
            <a:r>
              <a:rPr dirty="0" err="1"/>
              <a:t>Data</a:t>
            </a:r>
            <a:r>
              <a:rPr lang="en-US" dirty="0" err="1"/>
              <a:t>Lske</a:t>
            </a:r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8046720" y="4224421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2F3F3"/>
                </a:solidFill>
              </a:defRPr>
            </a:pPr>
            <a:r>
              <a:rPr dirty="0"/>
              <a:t>Redshift analytics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The Problem: Three Pain 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3566160" cy="5029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13412"/>
                </a:solidFill>
              </a:defRPr>
            </a:pPr>
            <a:r>
              <a:t>❌  Fragmented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9900"/>
                </a:solidFill>
              </a:defRPr>
            </a:pPr>
            <a:r>
              <a:t>No single source of truth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Policy docs, metric definitions, reconciliation</a:t>
            </a:r>
            <a:br/>
            <a:r>
              <a:t>rules, and system configs scattered across wikis,</a:t>
            </a:r>
            <a:br/>
            <a:r>
              <a:t>Alteryx workflows, and tribal knowledge.</a:t>
            </a:r>
            <a:br/>
            <a:br/>
            <a:r>
              <a:t>New analyst asks: "What's the PO aging threshold</a:t>
            </a:r>
            <a:br/>
            <a:r>
              <a:t>for the LLE category?" — nobody knows where</a:t>
            </a:r>
            <a:br/>
            <a:r>
              <a:t>the answer lives.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280160"/>
            <a:ext cx="3566160" cy="5029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13412"/>
                </a:solidFill>
              </a:defRPr>
            </a:pPr>
            <a:r>
              <a:t>❌  Lost Decision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920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9900"/>
                </a:solidFill>
              </a:defRPr>
            </a:pPr>
            <a:r>
              <a:t>No record of 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Why was the PO aging threshold set to 90 days?</a:t>
            </a:r>
            <a:br/>
            <a:r>
              <a:t>Why did we switch from OFA-only to FASL+?</a:t>
            </a:r>
            <a:br/>
            <a:r>
              <a:t>Why are certain asset categories excluded?</a:t>
            </a:r>
            <a:br/>
            <a:br/>
            <a:r>
              <a:t>Decisions made during month-end close are lost.</a:t>
            </a:r>
            <a:br/>
            <a:r>
              <a:t>Next quarter, same questions resurface.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280160"/>
            <a:ext cx="3566160" cy="5029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13412"/>
                </a:solidFill>
              </a:defRPr>
            </a:pPr>
            <a:r>
              <a:t>❌  Manual Investigation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20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9900"/>
                </a:solidFill>
              </a:defRPr>
            </a:pPr>
            <a:r>
              <a:t>Can't act on insights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150K open transactions still need manual review.</a:t>
            </a:r>
            <a:br/>
            <a:r>
              <a:t>Analysts copy-paste between DataStudio, Excel,</a:t>
            </a:r>
            <a:br/>
            <a:r>
              <a:t>and email to investigate discrepancies.</a:t>
            </a:r>
            <a:br/>
            <a:br/>
            <a:r>
              <a:t>"Show me POs aging &gt;90 days not yet invoiced</a:t>
            </a:r>
            <a:br/>
            <a:r>
              <a:t>for EMEA" requires 4 manual steps.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Our Journey: Build an AI-Powered Metrics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2F3F3"/>
                </a:solidFill>
              </a:defRPr>
            </a:pPr>
            <a:r>
              <a:rPr dirty="0"/>
              <a:t>We'll build an agent that understands A</a:t>
            </a:r>
            <a:r>
              <a:rPr lang="en-US" dirty="0"/>
              <a:t>W</a:t>
            </a:r>
            <a:r>
              <a:rPr dirty="0"/>
              <a:t>S</a:t>
            </a:r>
            <a:r>
              <a:rPr lang="en-US" dirty="0"/>
              <a:t> financial system</a:t>
            </a:r>
            <a:r>
              <a:rPr dirty="0"/>
              <a:t> metrics, knows WHY decisions were made, and can 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822960" cy="1371600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202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Knowledge Base</a:t>
            </a:r>
            <a:br/>
            <a:r>
              <a:t>+ Custom Chunking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965960"/>
            <a:ext cx="5943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2F3F3"/>
                </a:solidFill>
              </a:defRPr>
            </a:pPr>
            <a:r>
              <a:t>Ingest metric definitions, reconciliation rules, and policy docs</a:t>
            </a:r>
            <a:br/>
            <a:r>
              <a:t>into a Bedrock KB with structure-preserving chunking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1920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3BB"/>
                </a:solidFill>
              </a:defRPr>
            </a:pPr>
            <a:r>
              <a:t>30 min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83280"/>
            <a:ext cx="10515600" cy="13716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3383280"/>
            <a:ext cx="822960" cy="13716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70332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4747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Context Graph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520440"/>
            <a:ext cx="5943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2F3F3"/>
                </a:solidFill>
              </a:defRPr>
            </a:pPr>
            <a:r>
              <a:t>Build a Neptune Analytics graph of systems, metrics, decisions,</a:t>
            </a:r>
            <a:br/>
            <a:r>
              <a:t>and relationships — the event clock for financial 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3474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9900"/>
                </a:solidFill>
              </a:defRPr>
            </a:pPr>
            <a:r>
              <a:t>30 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937760"/>
            <a:ext cx="10515600" cy="13716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4937760"/>
            <a:ext cx="822960" cy="1371600"/>
          </a:xfrm>
          <a:prstGeom prst="rect">
            <a:avLst/>
          </a:prstGeom>
          <a:solidFill>
            <a:srgbClr val="1B66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2578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0292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Agentic AI</a:t>
            </a:r>
            <a:br/>
            <a:r>
              <a:t>with Strands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5074920"/>
            <a:ext cx="5943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2F3F3"/>
                </a:solidFill>
              </a:defRPr>
            </a:pPr>
            <a:r>
              <a:t>Build a Strands agent that queries KB + graph, runs Athena</a:t>
            </a:r>
            <a:br/>
            <a:r>
              <a:t>queries, classifies discrepancies, and records decision traces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50292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B660F"/>
                </a:solidFill>
              </a:defRPr>
            </a:pPr>
            <a:r>
              <a:t>30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What We're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1440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rPr dirty="0"/>
              <a:t>          "What POs are aging &gt;90 days for EMEA?"</a:t>
            </a:r>
            <a:br>
              <a:rPr dirty="0"/>
            </a:br>
            <a:r>
              <a:rPr dirty="0"/>
              <a:t>                          │</a:t>
            </a:r>
            <a:br>
              <a:rPr dirty="0"/>
            </a:br>
            <a:r>
              <a:rPr dirty="0"/>
              <a:t>                  ┌───────▼────────┐</a:t>
            </a:r>
            <a:br>
              <a:rPr dirty="0"/>
            </a:br>
            <a:r>
              <a:rPr dirty="0"/>
              <a:t>                  │  Strands Agent  │  ← Module 3</a:t>
            </a:r>
            <a:br>
              <a:rPr dirty="0"/>
            </a:br>
            <a:r>
              <a:rPr dirty="0"/>
              <a:t>                  │  (AFS Metrics   │</a:t>
            </a:r>
            <a:br>
              <a:rPr dirty="0"/>
            </a:br>
            <a:r>
              <a:rPr dirty="0"/>
              <a:t>                  │   Assistant)    │</a:t>
            </a:r>
            <a:br>
              <a:rPr dirty="0"/>
            </a:br>
            <a:r>
              <a:rPr dirty="0"/>
              <a:t>                  └──┬─────┬────┬──┘</a:t>
            </a:r>
            <a:br>
              <a:rPr dirty="0"/>
            </a:br>
            <a:r>
              <a:rPr dirty="0"/>
              <a:t>                     │     │    │</a:t>
            </a:r>
            <a:br>
              <a:rPr dirty="0"/>
            </a:br>
            <a:r>
              <a:rPr dirty="0"/>
              <a:t>           ┌─────────▼┐  ┌▼────▼──────────┐</a:t>
            </a:r>
            <a:br>
              <a:rPr dirty="0"/>
            </a:br>
            <a:r>
              <a:rPr dirty="0"/>
              <a:t>           │  Bedrock  │  │   Neptune      │</a:t>
            </a:r>
            <a:br>
              <a:rPr dirty="0"/>
            </a:br>
            <a:r>
              <a:rPr dirty="0"/>
              <a:t>Module 1 → │  Knowledge│  │   Analytics    │ ← Module 2</a:t>
            </a:r>
            <a:br>
              <a:rPr dirty="0"/>
            </a:br>
            <a:r>
              <a:rPr dirty="0"/>
              <a:t>           │  Base     │  │(Context Graph) │</a:t>
            </a:r>
            <a:br>
              <a:rPr dirty="0"/>
            </a:br>
            <a:r>
              <a:rPr dirty="0"/>
              <a:t>           └─────┬─────┘  └───────┬────────┘</a:t>
            </a:r>
            <a:br>
              <a:rPr dirty="0"/>
            </a:br>
            <a:r>
              <a:rPr dirty="0"/>
              <a:t>                 │                │</a:t>
            </a:r>
            <a:br>
              <a:rPr dirty="0"/>
            </a:br>
            <a:r>
              <a:rPr dirty="0"/>
              <a:t>        ┌────────▼──────┐ ┌──────▼─────────┐</a:t>
            </a:r>
            <a:br>
              <a:rPr dirty="0"/>
            </a:br>
            <a:r>
              <a:rPr dirty="0"/>
              <a:t>        │  OpenSearch   │ │ Metric </a:t>
            </a:r>
            <a:r>
              <a:rPr dirty="0" err="1"/>
              <a:t>Defs</a:t>
            </a:r>
            <a:r>
              <a:rPr dirty="0"/>
              <a:t>    │</a:t>
            </a:r>
            <a:br>
              <a:rPr dirty="0"/>
            </a:br>
            <a:r>
              <a:rPr dirty="0"/>
              <a:t>        │  Serverless   │ │ System Links   │</a:t>
            </a:r>
            <a:br>
              <a:rPr dirty="0"/>
            </a:br>
            <a:r>
              <a:rPr dirty="0"/>
              <a:t>        │ (Policy docs, │ │ Decision Traces│</a:t>
            </a:r>
            <a:br>
              <a:rPr dirty="0"/>
            </a:br>
            <a:r>
              <a:rPr dirty="0"/>
              <a:t>        │  metric </a:t>
            </a:r>
            <a:r>
              <a:rPr dirty="0" err="1"/>
              <a:t>defs</a:t>
            </a:r>
            <a:r>
              <a:rPr dirty="0"/>
              <a:t>) │ │ Relationships  │</a:t>
            </a:r>
            <a:br>
              <a:rPr dirty="0"/>
            </a:br>
            <a:r>
              <a:rPr dirty="0"/>
              <a:t>        └───────────────┘ └────────────────┘</a:t>
            </a:r>
            <a:br>
              <a:rPr dirty="0"/>
            </a:br>
            <a:r>
              <a:rPr dirty="0"/>
              <a:t>                 │</a:t>
            </a:r>
            <a:br>
              <a:rPr dirty="0"/>
            </a:br>
            <a:r>
              <a:rPr dirty="0"/>
              <a:t>      ┌──────────▼──────────────────┐</a:t>
            </a:r>
            <a:br>
              <a:rPr dirty="0"/>
            </a:br>
            <a:r>
              <a:rPr dirty="0"/>
              <a:t>      │  S3 → Custom Chunking       │</a:t>
            </a:r>
            <a:br>
              <a:rPr dirty="0"/>
            </a:br>
            <a:r>
              <a:rPr dirty="0"/>
              <a:t>      │  (Namespace/</a:t>
            </a:r>
            <a:r>
              <a:rPr dirty="0" err="1"/>
              <a:t>MetricDefinition</a:t>
            </a:r>
            <a:r>
              <a:rPr dirty="0"/>
              <a:t> │</a:t>
            </a:r>
            <a:br>
              <a:rPr dirty="0"/>
            </a:br>
            <a:r>
              <a:rPr dirty="0"/>
              <a:t>      │   structure preserved)       │</a:t>
            </a:r>
            <a:br>
              <a:rPr dirty="0"/>
            </a:br>
            <a:r>
              <a:rPr dirty="0"/>
              <a:t>      └─────────────────────────────┘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The Two Clock Problem in Financial 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2F3F3"/>
                </a:solidFill>
              </a:defRPr>
            </a:pPr>
            <a:r>
              <a:t>AFS teams have a state clock but no event clock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43891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3BB"/>
                </a:solidFill>
              </a:defRPr>
            </a:pPr>
            <a:r>
              <a:t>⏰  State Clock  (what exists today)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4572000" cy="2785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Current metric definitions in JSON configs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"PO aging threshold is 90 days"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"categories: AHU, GENERATOR"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"MTD period for </a:t>
            </a:r>
            <a:r>
              <a:rPr dirty="0" err="1"/>
              <a:t>po_total_spend</a:t>
            </a:r>
            <a:r>
              <a:rPr dirty="0"/>
              <a:t>"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Current reconciliation rules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"Match GL to sub-ledger"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"Filter </a:t>
            </a:r>
            <a:r>
              <a:rPr dirty="0" err="1"/>
              <a:t>po_amount</a:t>
            </a:r>
            <a:r>
              <a:rPr dirty="0"/>
              <a:t> &gt; 300"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✅  KB handle this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5029200" cy="43891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9900"/>
                </a:solidFill>
              </a:defRPr>
            </a:pPr>
            <a:r>
              <a:t>⏰  Event Clock  (what's missing)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51760"/>
            <a:ext cx="4572000" cy="3062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WHY was the threshold set to 90 days?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"Q4 2024 audit found 60-day was too aggressive"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WHY are AHU and GENERATOR in </a:t>
            </a:r>
            <a:r>
              <a:rPr lang="en-US" dirty="0"/>
              <a:t>category</a:t>
            </a:r>
            <a:r>
              <a:rPr dirty="0"/>
              <a:t>?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"Finance reclassified in FY2024 per GAAP update"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WHY did last month's reconciliation fail?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"</a:t>
            </a:r>
            <a:r>
              <a:rPr dirty="0" err="1"/>
              <a:t>Data</a:t>
            </a:r>
            <a:r>
              <a:rPr lang="en-US" dirty="0" err="1"/>
              <a:t>Lake</a:t>
            </a:r>
            <a:r>
              <a:rPr dirty="0"/>
              <a:t> query returned stale data — fixed"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❌  No infrastructure for this!</a:t>
            </a:r>
          </a:p>
          <a:p>
            <a:pPr>
              <a:spcAft>
                <a:spcPts val="600"/>
              </a:spcAft>
              <a:defRPr sz="1300">
                <a:solidFill>
                  <a:srgbClr val="F2F3F3"/>
                </a:solidFill>
              </a:defRPr>
            </a:pPr>
            <a:r>
              <a:rPr dirty="0"/>
              <a:t>✅  Context graphs solve this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Demo Scenario: Month-End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2F3F3"/>
                </a:solidFill>
              </a:defRPr>
            </a:pPr>
            <a:r>
              <a:t>It's March 31st. FBI CapEx analyst needs to close the books.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457200" cy="10972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1645920"/>
            <a:ext cx="4754880" cy="10972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691640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"What is the total PO spend for</a:t>
            </a:r>
            <a:br/>
            <a:r>
              <a:t> EMEA this month, broken down</a:t>
            </a:r>
            <a:br/>
            <a:r>
              <a:t> by currency?"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645920"/>
            <a:ext cx="5760720" cy="1097280"/>
          </a:xfrm>
          <a:prstGeom prst="rect">
            <a:avLst/>
          </a:prstGeom>
          <a:solidFill>
            <a:srgbClr val="153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0" y="169164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rPr dirty="0"/>
              <a:t>Agent searches KB for metric definition</a:t>
            </a:r>
            <a:br>
              <a:rPr dirty="0"/>
            </a:br>
            <a:r>
              <a:rPr dirty="0"/>
              <a:t>→ finds </a:t>
            </a:r>
            <a:r>
              <a:rPr dirty="0" err="1"/>
              <a:t>po_total_spend</a:t>
            </a:r>
            <a:r>
              <a:rPr dirty="0"/>
              <a:t> namespace</a:t>
            </a:r>
            <a:br>
              <a:rPr dirty="0"/>
            </a:br>
            <a:r>
              <a:rPr dirty="0"/>
              <a:t>→ returns: EUR €2.5M, GBP £500K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80360"/>
            <a:ext cx="457200" cy="10972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31546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880360"/>
            <a:ext cx="4754880" cy="10972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88720" y="2926080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rPr dirty="0"/>
              <a:t>"Why did we change the PO aging</a:t>
            </a:r>
            <a:br>
              <a:rPr dirty="0"/>
            </a:br>
            <a:r>
              <a:rPr dirty="0"/>
              <a:t> threshold from 60 to 90 days</a:t>
            </a:r>
            <a:br>
              <a:rPr dirty="0"/>
            </a:br>
            <a:r>
              <a:rPr dirty="0"/>
              <a:t> last quarter?"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880360"/>
            <a:ext cx="5760720" cy="1097280"/>
          </a:xfrm>
          <a:prstGeom prst="rect">
            <a:avLst/>
          </a:prstGeom>
          <a:solidFill>
            <a:srgbClr val="153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292608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rPr dirty="0"/>
              <a:t>Agent queries context graph</a:t>
            </a:r>
            <a:br>
              <a:rPr dirty="0"/>
            </a:br>
            <a:r>
              <a:rPr dirty="0"/>
              <a:t>→ finds Decision: Q4-2024-AUDIT</a:t>
            </a:r>
            <a:br>
              <a:rPr dirty="0"/>
            </a:br>
            <a:r>
              <a:rPr dirty="0"/>
              <a:t>→ "60-day was flagging too many</a:t>
            </a:r>
            <a:br>
              <a:rPr dirty="0"/>
            </a:br>
            <a:r>
              <a:rPr dirty="0"/>
              <a:t>    false positives during audit"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14800"/>
            <a:ext cx="457200" cy="10972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389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4114800"/>
            <a:ext cx="4754880" cy="10972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88720" y="4160520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rPr dirty="0"/>
              <a:t>"Show me POs aging &gt;90 days</a:t>
            </a:r>
            <a:br>
              <a:rPr dirty="0"/>
            </a:br>
            <a:r>
              <a:rPr dirty="0"/>
              <a:t> not yet invoiced — and classify</a:t>
            </a:r>
            <a:br>
              <a:rPr dirty="0"/>
            </a:br>
            <a:r>
              <a:rPr dirty="0"/>
              <a:t> the risk level"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4114800"/>
            <a:ext cx="5760720" cy="1097280"/>
          </a:xfrm>
          <a:prstGeom prst="rect">
            <a:avLst/>
          </a:prstGeom>
          <a:solidFill>
            <a:srgbClr val="153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0" y="416052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rPr dirty="0"/>
              <a:t>Agent calls query tool → Athena</a:t>
            </a:r>
            <a:br>
              <a:rPr dirty="0"/>
            </a:br>
            <a:r>
              <a:rPr dirty="0"/>
              <a:t>→ retrieves 47 POs totaling $3.2M</a:t>
            </a:r>
            <a:br>
              <a:rPr dirty="0"/>
            </a:br>
            <a:r>
              <a:rPr dirty="0"/>
              <a:t>→ classifies: 12 high-risk (&gt;$500K)</a:t>
            </a:r>
            <a:br>
              <a:rPr dirty="0"/>
            </a:br>
            <a:r>
              <a:rPr dirty="0"/>
              <a:t>→ records decision trace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49240"/>
            <a:ext cx="457200" cy="10972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5623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5349240"/>
            <a:ext cx="4754880" cy="10972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88720" y="5394960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rPr dirty="0"/>
              <a:t>"Compare this month's failed</a:t>
            </a:r>
            <a:br>
              <a:rPr dirty="0"/>
            </a:br>
            <a:r>
              <a:rPr dirty="0"/>
              <a:t> asset creates vs last month.</a:t>
            </a:r>
            <a:br>
              <a:rPr dirty="0"/>
            </a:br>
            <a:r>
              <a:rPr dirty="0"/>
              <a:t> What changed?"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5349240"/>
            <a:ext cx="5760720" cy="1097280"/>
          </a:xfrm>
          <a:prstGeom prst="rect">
            <a:avLst/>
          </a:prstGeom>
          <a:solidFill>
            <a:srgbClr val="153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26480" y="539496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rPr dirty="0"/>
              <a:t>Agent searches KB + graph</a:t>
            </a:r>
            <a:br>
              <a:rPr dirty="0"/>
            </a:br>
            <a:r>
              <a:rPr dirty="0"/>
              <a:t>→ 23 failures this month vs 8 last</a:t>
            </a:r>
            <a:br>
              <a:rPr dirty="0"/>
            </a:br>
            <a:r>
              <a:rPr dirty="0"/>
              <a:t>→ graph shows: new GENERATOR</a:t>
            </a:r>
            <a:br>
              <a:rPr dirty="0"/>
            </a:br>
            <a:r>
              <a:rPr dirty="0"/>
              <a:t>    category onboarded March 15th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900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Knowledge Base + Custom Chunking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2F3F3"/>
                </a:solidFill>
              </a:defRPr>
            </a:pPr>
            <a:r>
              <a:rPr dirty="0"/>
              <a:t>Ingesting metric definitions, reconciliation rules, and policy docs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Why Chunking Matters for Financial Docs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303520" cy="52120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13412"/>
                </a:solidFill>
              </a:defRPr>
            </a:pPr>
            <a:r>
              <a:t>❌  Fixed-Size Chunking (300 tokens)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2F3F3"/>
                </a:solidFill>
              </a:defRPr>
            </a:pPr>
            <a:r>
              <a:t>AFS Metric Definition doc:</a:t>
            </a:r>
            <a:br/>
            <a:br/>
            <a:r>
              <a:t>┌─── Chunk 1 ────────────────────┐</a:t>
            </a:r>
            <a:br/>
            <a:r>
              <a:t>│ Metric: po_total_spend         │</a:t>
            </a:r>
            <a:br/>
            <a:r>
              <a:t>│ Type: SUM                      │</a:t>
            </a:r>
            <a:br/>
            <a:r>
              <a:t>│ Value: po_amount               │</a:t>
            </a:r>
            <a:br/>
            <a:r>
              <a:t>│ Breakdown: currency            │</a:t>
            </a:r>
            <a:br/>
            <a:r>
              <a:t>│ Dimensions:                    │</a:t>
            </a:r>
            <a:br/>
            <a:r>
              <a:t>│   - entity                     │</a:t>
            </a:r>
            <a:br/>
            <a:r>
              <a:t>│   - region                     │</a:t>
            </a:r>
            <a:br/>
            <a:r>
              <a:t>└─────────────────── CUT ────────┘</a:t>
            </a:r>
            <a:br/>
            <a:r>
              <a:t>┌─── Chunk 2 ────────────────────┐</a:t>
            </a:r>
            <a:br/>
            <a:r>
              <a:t>│   - cost_center                │</a:t>
            </a:r>
            <a:br/>
            <a:r>
              <a:t>│ Filters:                       │</a:t>
            </a:r>
            <a:br/>
            <a:r>
              <a:t>│   po_amount &gt; 300              │</a:t>
            </a:r>
            <a:br/>
            <a:r>
              <a:t>│   line_category IN [AHU, GEN]  │</a:t>
            </a:r>
            <a:br/>
            <a:r>
              <a:t>│ Periods: MTD, QTD, YTD         │</a:t>
            </a:r>
            <a:br/>
            <a:r>
              <a:t>└────────────────────────────────┘</a:t>
            </a:r>
            <a:br/>
            <a:br/>
            <a:r>
              <a:t>Agent gets Chunk 1 → answers without</a:t>
            </a:r>
            <a:br/>
            <a:r>
              <a:t>filters or periods. WRONG answer.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029200" cy="52120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280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660F"/>
                </a:solidFill>
              </a:defRPr>
            </a:pPr>
            <a:r>
              <a:t>✅  Custom Chunking (by Namespace)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2F3F3"/>
                </a:solidFill>
              </a:defRPr>
            </a:pPr>
            <a:r>
              <a:t>Same doc, namespace-aware chunking:</a:t>
            </a:r>
            <a:br/>
            <a:br/>
            <a:r>
              <a:t>┌─── Chunk (complete namespace) ──┐</a:t>
            </a:r>
            <a:br/>
            <a:r>
              <a:t>│ Namespace: veritas_po_metrics   │</a:t>
            </a:r>
            <a:br/>
            <a:r>
              <a:t>│                                 │</a:t>
            </a:r>
            <a:br/>
            <a:r>
              <a:t>│ Metric: po_total_spend          │</a:t>
            </a:r>
            <a:br/>
            <a:r>
              <a:t>│ Type: SUM                       │</a:t>
            </a:r>
            <a:br/>
            <a:r>
              <a:t>│ Value: po_amount                │</a:t>
            </a:r>
            <a:br/>
            <a:r>
              <a:t>│ Breakdown: currency             │</a:t>
            </a:r>
            <a:br/>
            <a:r>
              <a:t>│ Dimensions: entity, region,     │</a:t>
            </a:r>
            <a:br/>
            <a:r>
              <a:t>│   cost_center                   │</a:t>
            </a:r>
            <a:br/>
            <a:r>
              <a:t>│ Filters: po_amount &gt; 300,       │</a:t>
            </a:r>
            <a:br/>
            <a:r>
              <a:t>│   line_category IN [AHU, GEN]   │</a:t>
            </a:r>
            <a:br/>
            <a:r>
              <a:t>│ Periods: MTD, QTD, YTD          │</a:t>
            </a:r>
            <a:br/>
            <a:r>
              <a:t>│                                 │</a:t>
            </a:r>
            <a:br/>
            <a:r>
              <a:t>│ metadata:                       │</a:t>
            </a:r>
            <a:br/>
            <a:r>
              <a:t>│   namespace: veritas_po_metrics │</a:t>
            </a:r>
            <a:br/>
            <a:r>
              <a:t>│   metric: po_total_spend        │</a:t>
            </a:r>
            <a:br/>
            <a:r>
              <a:t>│   type: metric_definition       │</a:t>
            </a:r>
            <a:br/>
            <a:r>
              <a:t>└─────────────────────────────────┘</a:t>
            </a:r>
            <a:br/>
            <a:br/>
            <a:r>
              <a:t>Complete definition + metadata 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AFS Knowledge Base: What We Ingest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697480" cy="5029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900"/>
                </a:solidFill>
              </a:defRPr>
            </a:pPr>
            <a:r>
              <a:t>Metric Definitions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860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73BB"/>
                </a:solidFill>
              </a:defRPr>
            </a:pPr>
            <a:r>
              <a:t>14 P0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2331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po_total_spend, po_aging_not_invoiced,</a:t>
            </a:r>
            <a:br/>
            <a:r>
              <a:t>invoice_variance, asset_value_mismatch,</a:t>
            </a:r>
            <a:br/>
            <a:r>
              <a:t>asset_create_count, failed_creates, etc.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188720"/>
            <a:ext cx="2697480" cy="5029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128016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288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900"/>
                </a:solidFill>
              </a:defRPr>
            </a:pPr>
            <a:r>
              <a:t>Reconciliation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2860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73BB"/>
                </a:solidFill>
              </a:defRPr>
            </a:pPr>
            <a:r>
              <a:t>Matching logic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834640"/>
            <a:ext cx="2331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rPr lang="en-US" dirty="0"/>
              <a:t>GL</a:t>
            </a:r>
            <a:r>
              <a:rPr dirty="0"/>
              <a:t> ↔ sub-ledger matching,</a:t>
            </a:r>
            <a:br>
              <a:rPr dirty="0"/>
            </a:br>
            <a:r>
              <a:rPr dirty="0"/>
              <a:t>invoice ↔ PO receipt matching,</a:t>
            </a:r>
            <a:br>
              <a:rPr dirty="0"/>
            </a:br>
            <a:r>
              <a:rPr dirty="0"/>
              <a:t>asset value ↔ GL reconciliation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2697480" cy="5029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128016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900"/>
                </a:solidFill>
              </a:defRPr>
            </a:pPr>
            <a:r>
              <a:t>Policy &amp; Compliance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2860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73BB"/>
                </a:solidFill>
              </a:defRPr>
            </a:pPr>
            <a:r>
              <a:t>Audit requirements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34640"/>
            <a:ext cx="2331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rPr dirty="0"/>
              <a:t>PCI data retention, SOX controls,</a:t>
            </a:r>
            <a:br>
              <a:rPr dirty="0"/>
            </a:br>
            <a:r>
              <a:rPr dirty="0"/>
              <a:t>period close procedures, GRC controls,</a:t>
            </a:r>
            <a:br>
              <a:rPr dirty="0"/>
            </a:br>
            <a:r>
              <a:rPr dirty="0"/>
              <a:t>threshold configurations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1188720"/>
            <a:ext cx="2697480" cy="5029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128016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18288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900"/>
                </a:solidFill>
              </a:defRPr>
            </a:pPr>
            <a:r>
              <a:t>System Configs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2860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73BB"/>
                </a:solidFill>
              </a:defRPr>
            </a:pPr>
            <a:r>
              <a:t>Namespace definitions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834640"/>
            <a:ext cx="2331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rPr dirty="0" err="1"/>
              <a:t>po_metrics</a:t>
            </a:r>
            <a:r>
              <a:rPr dirty="0"/>
              <a:t>, </a:t>
            </a:r>
            <a:r>
              <a:rPr dirty="0" err="1"/>
              <a:t>asset_metrics</a:t>
            </a:r>
            <a:r>
              <a:rPr dirty="0"/>
              <a:t>,</a:t>
            </a:r>
            <a:br>
              <a:rPr dirty="0"/>
            </a:br>
            <a:r>
              <a:rPr dirty="0"/>
              <a:t>reconciliation — JSON configs with</a:t>
            </a:r>
            <a:br>
              <a:rPr dirty="0"/>
            </a:br>
            <a:r>
              <a:rPr dirty="0"/>
              <a:t>query, dimensions, filters, periods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dirty="0"/>
              <a:t>Bedrock KB Pipeline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2F3F3"/>
                </a:solidFill>
              </a:defRPr>
            </a:pPr>
            <a:r>
              <a:t>S3 (metric docs)  →  Parsing  →  Custom Lambda Chunking  →  Titan Embeddings V2  →  OpenSearch Serverless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6400800" cy="4389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900"/>
                </a:solidFill>
              </a:defRPr>
            </a:pPr>
            <a:r>
              <a:t>Custom chunker: split by namespace + metric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6035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E0A0"/>
                </a:solidFill>
              </a:defRPr>
            </a:pPr>
            <a:r>
              <a:t># Lambda chunker preserves metric structure</a:t>
            </a:r>
            <a:br/>
            <a:r>
              <a:t>def chunk_by_namespace(text, source):</a:t>
            </a:r>
            <a:br/>
            <a:r>
              <a:t>    """Split on namespace boundaries,</a:t>
            </a:r>
            <a:br/>
            <a:r>
              <a:t>    keep each MetricDefinition intact."""</a:t>
            </a:r>
            <a:br/>
            <a:r>
              <a:t>    sections = re.split(</a:t>
            </a:r>
            <a:br/>
            <a:r>
              <a:t>        r'\n(?=##+ |\{\s*"name")', text</a:t>
            </a:r>
            <a:br/>
            <a:r>
              <a:t>    )</a:t>
            </a:r>
            <a:br/>
            <a:r>
              <a:t>    chunks = []</a:t>
            </a:r>
            <a:br/>
            <a:r>
              <a:t>    for section in sections:</a:t>
            </a:r>
            <a:br/>
            <a:r>
              <a:t>        chunks.append({</a:t>
            </a:r>
            <a:br/>
            <a:r>
              <a:t>            "content": section,</a:t>
            </a:r>
            <a:br/>
            <a:r>
              <a:t>            "metadata": {</a:t>
            </a:r>
            <a:br/>
            <a:r>
              <a:t>                "namespace": extract_ns(section),</a:t>
            </a:r>
            <a:br/>
            <a:r>
              <a:t>                "metric_name": extract_metric(section),</a:t>
            </a:r>
            <a:br/>
            <a:r>
              <a:t>                "doc_type": classify_doc(section),</a:t>
            </a:r>
            <a:br/>
            <a:r>
              <a:t>                "source": source,</a:t>
            </a:r>
            <a:br/>
            <a:r>
              <a:t>            },</a:t>
            </a:r>
            <a:br/>
            <a:r>
              <a:t>        })</a:t>
            </a:r>
            <a:br/>
            <a:r>
              <a:t>    return chunks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2011680"/>
            <a:ext cx="3931920" cy="43891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0" y="2103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900"/>
                </a:solidFill>
              </a:defRPr>
            </a:pPr>
            <a:r>
              <a:t>Query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74320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💬 "What metrics track PO aging?"</a:t>
            </a:r>
            <a:br/>
            <a:br/>
            <a:r>
              <a:t>Agent retrieves:</a:t>
            </a:r>
            <a:br/>
            <a:br/>
            <a:r>
              <a:t>  [0.94] po_aging_not_invoiced</a:t>
            </a:r>
            <a:br/>
            <a:r>
              <a:t>    Type: COUNT + SUM</a:t>
            </a:r>
            <a:br/>
            <a:r>
              <a:t>    Threshold: &gt;90 days</a:t>
            </a:r>
            <a:br/>
            <a:r>
              <a:t>    Dimensions: entity, currency</a:t>
            </a:r>
            <a:br/>
            <a:r>
              <a:t>    Periods: MTD, QTD</a:t>
            </a:r>
            <a:br/>
            <a:br/>
            <a:r>
              <a:t>  [0.87] po_total_spend</a:t>
            </a:r>
            <a:br/>
            <a:r>
              <a:t>    Type: SUM</a:t>
            </a:r>
            <a:br/>
            <a:r>
              <a:t>    Filter: po_amount &gt; 300</a:t>
            </a:r>
            <a:br/>
            <a:br/>
            <a:r>
              <a:t>Complete definitions with all</a:t>
            </a:r>
            <a:br/>
            <a:r>
              <a:t>filters, dimensions, periods 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Hands-On: Build the AFS Knowledge 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515600" cy="74980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548640" cy="749808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34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rPr dirty="0"/>
              <a:t>Upload docs to S3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5727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Metric defs, recon rules, policies, configs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057400"/>
            <a:ext cx="10515600" cy="74980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2057400"/>
            <a:ext cx="548640" cy="749808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194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03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rPr dirty="0"/>
              <a:t>Create Bedrock KB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414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Titan Embeddings V2 + OpenSearch Serverless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26080"/>
            <a:ext cx="10515600" cy="74980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2926080"/>
            <a:ext cx="548640" cy="749808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971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rPr dirty="0"/>
              <a:t>Query with default chunking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3101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See the split-definition bug in 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794759"/>
            <a:ext cx="10515600" cy="74980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3794759"/>
            <a:ext cx="548640" cy="749808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393191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840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Deploy custom Lambda chunker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178807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rPr dirty="0"/>
              <a:t>Namespace-aware splitting + metadata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663440"/>
            <a:ext cx="10515600" cy="74980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1520" y="4663440"/>
            <a:ext cx="548640" cy="749808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48006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709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rPr dirty="0"/>
              <a:t>Re-query — complete answers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0474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"What metrics track PO aging?" → full definition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532120"/>
            <a:ext cx="10515600" cy="74980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31520" y="5532120"/>
            <a:ext cx="548640" cy="749808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56692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55778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Compare retrieval quality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59161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Side-by-side: fixed vs semantic vs custom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900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Context 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2F3F3"/>
                </a:solidFill>
              </a:defRPr>
            </a:pPr>
            <a:r>
              <a:t>Building the event clock: WHY metrics are defined the way they 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AFS Financial Operations as a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1440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rPr dirty="0"/>
              <a:t>  ┌──────────┐     ┌──────────────┐     ┌──────────┐</a:t>
            </a:r>
            <a:br>
              <a:rPr dirty="0"/>
            </a:br>
            <a:r>
              <a:rPr dirty="0"/>
              <a:t>  │  S</a:t>
            </a:r>
            <a:r>
              <a:rPr lang="en-US" dirty="0"/>
              <a:t>upply Chain</a:t>
            </a:r>
            <a:r>
              <a:rPr dirty="0"/>
              <a:t>   │────▶│     PO       │────▶│   AP     │</a:t>
            </a:r>
            <a:br>
              <a:rPr dirty="0"/>
            </a:br>
            <a:r>
              <a:rPr dirty="0"/>
              <a:t>  │(Ordering)│     │ (Purchase    │     │(Accounts │</a:t>
            </a:r>
            <a:br>
              <a:rPr dirty="0"/>
            </a:br>
            <a:r>
              <a:rPr dirty="0"/>
              <a:t>  └──────────┘     │  Order)      │     │ Payable) │</a:t>
            </a:r>
            <a:br>
              <a:rPr dirty="0"/>
            </a:br>
            <a:r>
              <a:rPr dirty="0"/>
              <a:t>                   └──────┬───────┘     └────┬─────┘</a:t>
            </a:r>
            <a:br>
              <a:rPr dirty="0"/>
            </a:br>
            <a:r>
              <a:rPr dirty="0"/>
              <a:t>                          │                   │</a:t>
            </a:r>
            <a:br>
              <a:rPr dirty="0"/>
            </a:br>
            <a:r>
              <a:rPr dirty="0"/>
              <a:t>                   ┌──────▼───────┐    ┌─────▼──────┐</a:t>
            </a:r>
            <a:br>
              <a:rPr dirty="0"/>
            </a:br>
            <a:r>
              <a:rPr dirty="0"/>
              <a:t>                   │   Receipt    │    │  Invoice   │</a:t>
            </a:r>
            <a:br>
              <a:rPr dirty="0"/>
            </a:br>
            <a:r>
              <a:rPr dirty="0"/>
              <a:t>                   └──────┬───────┘    └─────┬──────┘</a:t>
            </a:r>
            <a:br>
              <a:rPr dirty="0"/>
            </a:br>
            <a:r>
              <a:rPr dirty="0"/>
              <a:t>                          │                   │</a:t>
            </a:r>
            <a:br>
              <a:rPr dirty="0"/>
            </a:br>
            <a:r>
              <a:rPr dirty="0"/>
              <a:t>                   ┌──────▼───────────────────▼──────┐</a:t>
            </a:r>
            <a:br>
              <a:rPr dirty="0"/>
            </a:br>
            <a:r>
              <a:rPr dirty="0"/>
              <a:t>                   │           FS                   │</a:t>
            </a:r>
            <a:br>
              <a:rPr dirty="0"/>
            </a:br>
            <a:r>
              <a:rPr dirty="0"/>
              <a:t>                   │   (Fixed-asset System) │</a:t>
            </a:r>
            <a:br>
              <a:rPr dirty="0"/>
            </a:br>
            <a:r>
              <a:rPr dirty="0"/>
              <a:t>                   └──────┬──────────────────┬───────┘</a:t>
            </a:r>
            <a:br>
              <a:rPr dirty="0"/>
            </a:br>
            <a:r>
              <a:rPr dirty="0"/>
              <a:t>                          │                  │</a:t>
            </a:r>
            <a:br>
              <a:rPr dirty="0"/>
            </a:br>
            <a:r>
              <a:rPr dirty="0"/>
              <a:t>                   ┌──────▼──────┐    ┌──────▼──────┐</a:t>
            </a:r>
            <a:br>
              <a:rPr dirty="0"/>
            </a:br>
            <a:r>
              <a:rPr dirty="0"/>
              <a:t>                   │          │    │   SL     │</a:t>
            </a:r>
            <a:br>
              <a:rPr dirty="0"/>
            </a:br>
            <a:r>
              <a:rPr dirty="0"/>
              <a:t>                   │ (GL) │    │ (Sub-Ledger)│</a:t>
            </a:r>
            <a:br>
              <a:rPr dirty="0"/>
            </a:br>
            <a:r>
              <a:rPr dirty="0"/>
              <a:t>                   └─────────────┘    └─────────────┘</a:t>
            </a:r>
            <a:br>
              <a:rPr dirty="0"/>
            </a:br>
            <a:br>
              <a:rPr dirty="0"/>
            </a:br>
            <a:r>
              <a:rPr dirty="0"/>
              <a:t>  ┌─────────────────────────────────────────────────┐</a:t>
            </a:r>
            <a:br>
              <a:rPr dirty="0"/>
            </a:br>
            <a:r>
              <a:rPr dirty="0"/>
              <a:t>  │  Decision Traces:                               │</a:t>
            </a:r>
            <a:br>
              <a:rPr dirty="0"/>
            </a:br>
            <a:r>
              <a:rPr dirty="0"/>
              <a:t>  │  • Q4-AUDIT: Changed PO aging 60→90 days        │</a:t>
            </a:r>
            <a:br>
              <a:rPr dirty="0"/>
            </a:br>
            <a:r>
              <a:rPr dirty="0"/>
              <a:t>  │  • FY24-GAAP: Reclassified categories       │</a:t>
            </a:r>
            <a:br>
              <a:rPr dirty="0"/>
            </a:br>
            <a:r>
              <a:rPr dirty="0"/>
              <a:t>  │  • MAR-2025: Onboarded GENERATOR category       │</a:t>
            </a:r>
            <a:br>
              <a:rPr dirty="0"/>
            </a:br>
            <a:r>
              <a:rPr dirty="0"/>
              <a:t>  └─────────────────────────────────────────────────┘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Neptune Analytics: AFS Graph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029200" cy="52120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900"/>
                </a:solidFill>
              </a:defRPr>
            </a:pPr>
            <a:r>
              <a:t>Node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🏗️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28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3BB"/>
                </a:solidFill>
              </a:defRPr>
            </a:pPr>
            <a:r>
              <a:t>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828800"/>
            <a:ext cx="2560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rPr dirty="0"/>
              <a:t>S</a:t>
            </a:r>
            <a:r>
              <a:rPr lang="en-US" dirty="0"/>
              <a:t>upply Chain</a:t>
            </a:r>
            <a:r>
              <a:rPr dirty="0"/>
              <a:t>, </a:t>
            </a:r>
            <a:r>
              <a:rPr lang="en-US" dirty="0"/>
              <a:t>Invoice</a:t>
            </a:r>
            <a:r>
              <a:rPr dirty="0"/>
              <a:t>, </a:t>
            </a:r>
            <a:r>
              <a:rPr lang="en-US" dirty="0"/>
              <a:t>GL</a:t>
            </a:r>
            <a:r>
              <a:rPr dirty="0"/>
              <a:t>, S</a:t>
            </a:r>
            <a:r>
              <a:rPr lang="en-US" dirty="0"/>
              <a:t>L</a:t>
            </a:r>
            <a:r>
              <a:rPr dirty="0"/>
              <a:t>, 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468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3BB"/>
                </a:solidFill>
              </a:defRPr>
            </a:pPr>
            <a: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po_total_spend, asset_create_count, etc.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08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108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3BB"/>
                </a:solidFill>
              </a:defRPr>
            </a:pPr>
            <a:r>
              <a:t>Namespace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08960"/>
            <a:ext cx="2560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rPr dirty="0" err="1"/>
              <a:t>po_metrics</a:t>
            </a:r>
            <a:r>
              <a:rPr dirty="0"/>
              <a:t>, </a:t>
            </a:r>
            <a:r>
              <a:rPr dirty="0" err="1"/>
              <a:t>asset_metrics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1005840" y="374903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🏷️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74903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3BB"/>
                </a:solidFill>
              </a:defRPr>
            </a:pPr>
            <a:r>
              <a:t>Dimension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entity, region, cost_center, currency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389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⚖️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3891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3BB"/>
                </a:solidFill>
              </a:defRPr>
            </a:pPr>
            <a:r>
              <a:t>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389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Q4-AUDIT, FY24-GAAP, threshold changes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029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029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3BB"/>
                </a:solidFill>
              </a:defRPr>
            </a:pPr>
            <a:r>
              <a:t>Period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2025-03 MTD, 2025-Q1 QTD, FY2025 YTD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7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66927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3BB"/>
                </a:solidFill>
              </a:defRPr>
            </a:pPr>
            <a:r>
              <a:t>DecisionTrace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566927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rPr dirty="0"/>
              <a:t>Agent reasoning captured at runtime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188720"/>
            <a:ext cx="5029200" cy="52120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900"/>
                </a:solidFill>
              </a:defRPr>
            </a:pPr>
            <a:r>
              <a:t>Relationship Types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1828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900"/>
                </a:solidFill>
              </a:defRPr>
            </a:pPr>
            <a:r>
              <a:t>FEEDS_INTO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1828800"/>
            <a:ext cx="24688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rPr dirty="0"/>
              <a:t>S</a:t>
            </a:r>
            <a:r>
              <a:rPr lang="en-US" dirty="0"/>
              <a:t>upply Chain</a:t>
            </a:r>
            <a:r>
              <a:rPr dirty="0"/>
              <a:t> → PO → </a:t>
            </a:r>
            <a:r>
              <a:rPr lang="en-US" dirty="0"/>
              <a:t>Invoice</a:t>
            </a:r>
            <a:r>
              <a:rPr dirty="0"/>
              <a:t> → FS → </a:t>
            </a:r>
            <a:r>
              <a:rPr lang="en-US" dirty="0"/>
              <a:t>SL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6675120" y="2423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900"/>
                </a:solidFill>
              </a:defRPr>
            </a:pPr>
            <a:r>
              <a:t>DEFINES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2423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Namespace → Metric definitions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3017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900"/>
                </a:solidFill>
              </a:defRPr>
            </a:pPr>
            <a:r>
              <a:t>HAS_DIMENSION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30175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Metric → entity, region, currency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611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900"/>
                </a:solidFill>
              </a:defRPr>
            </a:pPr>
            <a:r>
              <a:t>RECONCILES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3611880"/>
            <a:ext cx="2468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rPr lang="en-US" dirty="0"/>
              <a:t>GL</a:t>
            </a:r>
            <a:r>
              <a:rPr dirty="0"/>
              <a:t> ↔ SL matching rules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4206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900"/>
                </a:solidFill>
              </a:defRPr>
            </a:pPr>
            <a:r>
              <a:t>DECIDED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42062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Decision → changed threshold/config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4800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900"/>
                </a:solidFill>
              </a:defRPr>
            </a:pPr>
            <a:r>
              <a:t>CAUSED_BY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4800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Metric change → audit finding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394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900"/>
                </a:solidFill>
              </a:defRPr>
            </a:pPr>
            <a:r>
              <a:t>CONSIDERED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53949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DecisionTrace → entities evaluated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5989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900"/>
                </a:solidFill>
              </a:defRPr>
            </a:pPr>
            <a:r>
              <a:t>REPLACES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59893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New config → old config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GraphRAG: Why Vector Search Alone Fails for AFS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2F3F3"/>
                </a:solidFill>
              </a:defRPr>
            </a:pPr>
            <a:r>
              <a:t>"Why did we change the PO aging threshold from 60 to 90 days?"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029200" cy="29260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3BB"/>
                </a:solidFill>
              </a:defRPr>
            </a:pPr>
            <a:r>
              <a:t>🔍  Vector Search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Returns similar text:</a:t>
            </a:r>
            <a:br/>
            <a:br/>
            <a:r>
              <a:t>  [0.91] "PO aging threshold: 90 days"</a:t>
            </a:r>
            <a:br/>
            <a:r>
              <a:t>  [0.84] "Filter: po_amount &gt; 300"</a:t>
            </a:r>
            <a:br/>
            <a:r>
              <a:t>  [0.79] "Periods: MTD, QTD, YTD"</a:t>
            </a:r>
            <a:br/>
            <a:br/>
            <a:r>
              <a:t>Knows the current value (90 days)</a:t>
            </a:r>
            <a:br/>
            <a:r>
              <a:t>but NOT why it changed 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645920"/>
            <a:ext cx="5029200" cy="29260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900"/>
                </a:solidFill>
              </a:defRPr>
            </a:pPr>
            <a:r>
              <a:t>🔗  Graph + Vector (GraphRAG)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28600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Returns relationships + decisions:</a:t>
            </a:r>
            <a:br/>
            <a:br/>
            <a:r>
              <a:t>  Decision: Q4-2024-AUDIT</a:t>
            </a:r>
            <a:br/>
            <a:r>
              <a:t>    ──DECIDED──▶ PO aging = 90 days</a:t>
            </a:r>
            <a:br/>
            <a:r>
              <a:t>    ──CAUSED_BY──▶ "60-day threshold</a:t>
            </a:r>
            <a:br/>
            <a:r>
              <a:t>      flagged 40% false positives"</a:t>
            </a:r>
            <a:br/>
            <a:r>
              <a:t>    ──REPLACES──▶ PO aging = 60 days</a:t>
            </a:r>
            <a:br/>
            <a:br/>
            <a:r>
              <a:t>Knows WHAT and WHY 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846320"/>
            <a:ext cx="10515600" cy="16459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900"/>
                </a:solidFill>
              </a:defRPr>
            </a:pPr>
            <a:r>
              <a:t>Decision Traces for Month-End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94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2F3F3"/>
                </a:solidFill>
              </a:defRPr>
            </a:pPr>
            <a:r>
              <a:t>Every month-end decision gets recorded: "Approved 47 POs as low-risk because all &lt;$100K and within 120-day window"</a:t>
            </a:r>
            <a:br/>
            <a:r>
              <a:t>→ Next quarter's analyst finds this trace and understands the precedent without asking anyone</a:t>
            </a:r>
            <a:br/>
            <a:r>
              <a:t>→ The system builds institutional memory — like case law for financial operations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dirty="0"/>
              <a:t>Hands-On: Build the F</a:t>
            </a:r>
            <a:r>
              <a:rPr lang="en-US" dirty="0"/>
              <a:t>ixed Asset </a:t>
            </a:r>
            <a:r>
              <a:rPr dirty="0"/>
              <a:t>S</a:t>
            </a:r>
            <a:r>
              <a:rPr lang="en-US" dirty="0"/>
              <a:t>ystem</a:t>
            </a:r>
            <a:r>
              <a:rPr dirty="0"/>
              <a:t> Context 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515600" cy="8686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548640" cy="8686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34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Create Neptune Analytics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00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32 GB with vector search (1024-dim)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515600" cy="8686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2194560"/>
            <a:ext cx="548640" cy="8686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240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Extract entities from AFS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06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Claude extracts systems, metrics, decisions, relationships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00400"/>
            <a:ext cx="10515600" cy="8686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3200400"/>
            <a:ext cx="548640" cy="8686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246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Populate graph with openCypher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611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Nodes: System, Metric, Namespace, Decision + edges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206240"/>
            <a:ext cx="10515600" cy="8686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4206240"/>
            <a:ext cx="548640" cy="8686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3891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51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Query: vector + graph 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617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"Why 90-day PO aging?" → decision trace + current config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212080"/>
            <a:ext cx="10515600" cy="8686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1520" y="5212080"/>
            <a:ext cx="548640" cy="8686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53949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Record a decision trace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623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Simulate month-end: classify POs, record reasoning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62636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E0A0"/>
                </a:solidFill>
              </a:defRPr>
            </a:pPr>
            <a:r>
              <a:t>CALL neptune.algo.vectors.topKByNode({queryVector: {embedding}, topK: 5}) YIELD node, score OPTIONAL MATCH (node)-[r]-(connected) RETURN node.name, type(r), connected.name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dirty="0"/>
              <a:t>FS </a:t>
            </a:r>
            <a:r>
              <a:rPr dirty="0" err="1"/>
              <a:t>MetricOutput</a:t>
            </a:r>
            <a:r>
              <a:rPr dirty="0"/>
              <a:t> in the 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486400" cy="52120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900"/>
                </a:solidFill>
              </a:defRPr>
            </a:pPr>
            <a:r>
              <a:t>MetricOutput: po_total_spend (March MTD)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E0A0"/>
                </a:solidFill>
              </a:defRPr>
            </a:pPr>
            <a:r>
              <a:t>{</a:t>
            </a:r>
            <a:br/>
            <a:r>
              <a:t>  "metric_id": "po_total_spend",</a:t>
            </a:r>
            <a:br/>
            <a:r>
              <a:t>  "period_type": "mtd",</a:t>
            </a:r>
            <a:br/>
            <a:r>
              <a:t>  "period": "2025-03",</a:t>
            </a:r>
            <a:br/>
            <a:r>
              <a:t>  "metric_value": {</a:t>
            </a:r>
            <a:br/>
            <a:r>
              <a:t>    "total": "5,000,000.00",</a:t>
            </a:r>
            <a:br/>
            <a:r>
              <a:t>    "group_by": {</a:t>
            </a:r>
            <a:br/>
            <a:r>
              <a:t>      "USD": "2,000,000.00",</a:t>
            </a:r>
            <a:br/>
            <a:r>
              <a:t>      "EUR": "2,500,000.00",</a:t>
            </a:r>
            <a:br/>
            <a:r>
              <a:t>      "GBP": "500,000.00"</a:t>
            </a:r>
            <a:br/>
            <a:r>
              <a:t>    },</a:t>
            </a:r>
            <a:br/>
            <a:r>
              <a:t>    "items": ["PO001","PO002",...]</a:t>
            </a:r>
            <a:br/>
            <a:r>
              <a:t>  },</a:t>
            </a:r>
            <a:br/>
            <a:r>
              <a:t>  "breakdown": {</a:t>
            </a:r>
            <a:br/>
            <a:r>
              <a:t>    "EMEA": {</a:t>
            </a:r>
            <a:br/>
            <a:r>
              <a:t>      "total": "3,000,000.00",</a:t>
            </a:r>
            <a:br/>
            <a:r>
              <a:t>      "EU_WEST": {</a:t>
            </a:r>
            <a:br/>
            <a:r>
              <a:t>        "CC123": "1,500,000.00",</a:t>
            </a:r>
            <a:br/>
            <a:r>
              <a:t>        "CC124": "1,000,000.00"</a:t>
            </a:r>
            <a:br/>
            <a:r>
              <a:t>      }</a:t>
            </a:r>
            <a:br/>
            <a:r>
              <a:t>    },</a:t>
            </a:r>
            <a:br/>
            <a:r>
              <a:t>    "NA": {</a:t>
            </a:r>
            <a:br/>
            <a:r>
              <a:t>      "total": "2,000,000.00",</a:t>
            </a:r>
            <a:br/>
            <a:r>
              <a:t>      "US_WEST": {</a:t>
            </a:r>
            <a:br/>
            <a:r>
              <a:t>        "CC126": "2,000,000.00"</a:t>
            </a:r>
            <a:br/>
            <a:r>
              <a:t>      }</a:t>
            </a:r>
            <a:br/>
            <a:r>
              <a:t>    }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188720"/>
            <a:ext cx="4846320" cy="52120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900"/>
                </a:solidFill>
              </a:defRPr>
            </a:pPr>
            <a:r>
              <a:t>Graph Captures the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9202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📊  Metric node: po_total_spend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  → HAS_DIMENSION → entity, region, CC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  → BELONGS_TO → veritas_po_metrics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📅  Period node: 2025-03 MTD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  → SNAPSHOT → $5M total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  → BREAKDOWN → EMEA $3M, NA $2M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⚖️  Decision: Q4-2024-AUDIT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  → DECIDED → filter: po_amount &gt; 300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  → CAUSED_BY → false positive reduction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📝  DecisionTrace: MAR-2025-CLOSE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  → APPROVED → 47 POs as low-risk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  → REASONING → all &lt;$100K, &lt;120 days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This is the event clock —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every number has a story behind 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The Complete AFS Agent: Four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697480" cy="5029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97480" cy="73152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</a:defRPr>
            </a:pPr>
            <a:r>
              <a:t>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2024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73BB"/>
                </a:solidFill>
              </a:defRPr>
            </a:pPr>
            <a:r>
              <a:t>retrieve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860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4565B"/>
                </a:solidFill>
              </a:defRPr>
            </a:pPr>
            <a:r>
              <a:rPr dirty="0"/>
              <a:t>Bedrock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432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State Clock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2331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Metric definitions, recon rules,</a:t>
            </a:r>
            <a:br/>
            <a:r>
              <a:t>namespace configs, compliance</a:t>
            </a:r>
            <a:br/>
            <a:r>
              <a:t>policies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188720"/>
            <a:ext cx="2697480" cy="5029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46120" y="1188720"/>
            <a:ext cx="269748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137160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</a:defRPr>
            </a:pPr>
            <a:r>
              <a:t>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192024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9900"/>
                </a:solidFill>
              </a:defRPr>
            </a:pPr>
            <a:r>
              <a:t>search_context_graph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22860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4565B"/>
                </a:solidFill>
              </a:defRPr>
            </a:pPr>
            <a:r>
              <a:t>Neptune Analytics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7432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Event Clock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291840"/>
            <a:ext cx="2331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System relationships, decision</a:t>
            </a:r>
            <a:br/>
            <a:r>
              <a:t>history, threshold rationale,</a:t>
            </a:r>
            <a:br/>
            <a:r>
              <a:t>email decisions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188720"/>
            <a:ext cx="2697480" cy="5029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26480" y="1188720"/>
            <a:ext cx="2697480" cy="73152"/>
          </a:xfrm>
          <a:prstGeom prst="rect">
            <a:avLst/>
          </a:prstGeom>
          <a:solidFill>
            <a:srgbClr val="1B66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80" y="137160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</a:defRPr>
            </a:pPr>
            <a:r>
              <a:t>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92024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660F"/>
                </a:solidFill>
              </a:defRPr>
            </a:pPr>
            <a:r>
              <a:t>record_decision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2860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4565B"/>
                </a:solidFill>
              </a:defRPr>
            </a:pPr>
            <a:r>
              <a:t>Neptune Write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7432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Builds Memory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291840"/>
            <a:ext cx="2331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Captures agent reasoning as</a:t>
            </a:r>
            <a:br/>
            <a:r>
              <a:t>decision traces — audit trail</a:t>
            </a:r>
            <a:br/>
            <a:r>
              <a:t>for future queries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06840" y="1188720"/>
            <a:ext cx="2697480" cy="5029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06840" y="1188720"/>
            <a:ext cx="2697480" cy="73152"/>
          </a:xfrm>
          <a:prstGeom prst="rect">
            <a:avLst/>
          </a:prstGeom>
          <a:solidFill>
            <a:srgbClr val="BB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06840" y="137160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</a:defRPr>
            </a:pPr>
            <a:r>
              <a:t>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192024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BB55FF"/>
                </a:solidFill>
              </a:defRPr>
            </a:pPr>
            <a:r>
              <a:t>ingest_email_decision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22860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4565B"/>
                </a:solidFill>
              </a:defRPr>
            </a:pPr>
            <a:r>
              <a:t>Claude + Neptune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7432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Captures Email Decisions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3291840"/>
            <a:ext cx="2331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2F3F3"/>
                </a:solidFill>
              </a:defRPr>
            </a:pPr>
            <a:r>
              <a:t>Extracts decisions from email</a:t>
            </a:r>
            <a:br/>
            <a:r>
              <a:t>threads, creates Decision nodes,</a:t>
            </a:r>
            <a:br/>
            <a:r>
              <a:t>links to affected entities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6492240"/>
            <a:ext cx="10515600" cy="3200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Agent flow:  Search KB (WHAT) → Search Graph (WHY) → Act → Record Decision → Ingest Emails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Capturing Decisions from Emails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2F3F3"/>
                </a:solidFill>
              </a:defRPr>
            </a:pPr>
            <a:r>
              <a:t>Most financial decisions happen in email — they're the biggest source of lost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303520" cy="47548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900"/>
                </a:solidFill>
              </a:defRPr>
            </a:pPr>
            <a:r>
              <a:t>📧  Input: Email Thread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937760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rPr dirty="0"/>
              <a:t>From: Sarah Chen (</a:t>
            </a:r>
            <a:r>
              <a:rPr dirty="0" err="1"/>
              <a:t>CapEx</a:t>
            </a:r>
            <a:r>
              <a:rPr dirty="0"/>
              <a:t> Lead)</a:t>
            </a:r>
            <a:br>
              <a:rPr dirty="0"/>
            </a:br>
            <a:r>
              <a:rPr dirty="0"/>
              <a:t>Date: 2024-10-15</a:t>
            </a:r>
            <a:br>
              <a:rPr dirty="0"/>
            </a:br>
            <a:r>
              <a:rPr dirty="0"/>
              <a:t>Subject: RE: PO Aging Threshold Review</a:t>
            </a:r>
            <a:br>
              <a:rPr dirty="0"/>
            </a:br>
            <a:br>
              <a:rPr dirty="0"/>
            </a:br>
            <a:r>
              <a:rPr dirty="0"/>
              <a:t>After reviewing the Q4 audit findings,</a:t>
            </a:r>
            <a:br>
              <a:rPr dirty="0"/>
            </a:br>
            <a:r>
              <a:rPr dirty="0"/>
              <a:t>I'm approving the change to increase</a:t>
            </a:r>
            <a:br>
              <a:rPr dirty="0"/>
            </a:br>
            <a:r>
              <a:rPr dirty="0"/>
              <a:t>the PO aging threshold from 60 days to</a:t>
            </a:r>
            <a:br>
              <a:rPr dirty="0"/>
            </a:br>
            <a:r>
              <a:rPr dirty="0"/>
              <a:t>90 days. The 60-day threshold was</a:t>
            </a:r>
            <a:br>
              <a:rPr dirty="0"/>
            </a:br>
            <a:r>
              <a:rPr dirty="0"/>
              <a:t>generating approximately 40% false</a:t>
            </a:r>
            <a:br>
              <a:rPr dirty="0"/>
            </a:br>
            <a:r>
              <a:rPr dirty="0"/>
              <a:t>positives during the Q3 close cycle.</a:t>
            </a:r>
            <a:br>
              <a:rPr dirty="0"/>
            </a:br>
            <a:r>
              <a:rPr dirty="0"/>
              <a:t>The audit team confirmed that 90 days</a:t>
            </a:r>
            <a:br>
              <a:rPr dirty="0"/>
            </a:br>
            <a:r>
              <a:rPr dirty="0"/>
              <a:t>better reflects actual procurement</a:t>
            </a:r>
            <a:br>
              <a:rPr dirty="0"/>
            </a:br>
            <a:r>
              <a:rPr dirty="0"/>
              <a:t>timelines for infrastructure equipment.</a:t>
            </a:r>
            <a:br>
              <a:rPr dirty="0"/>
            </a:br>
            <a:r>
              <a:rPr dirty="0"/>
              <a:t>Expected to reduce false positive</a:t>
            </a:r>
            <a:br>
              <a:rPr dirty="0"/>
            </a:br>
            <a:r>
              <a:rPr dirty="0"/>
              <a:t>alerts by ~35%.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645920"/>
            <a:ext cx="5029200" cy="4754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900"/>
                </a:solidFill>
              </a:defRPr>
            </a:pPr>
            <a:r>
              <a:t>🔗  Output: Decision Node in 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4663440" cy="2970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E0A0"/>
                </a:solidFill>
              </a:defRPr>
            </a:pPr>
            <a:r>
              <a:rPr dirty="0" err="1"/>
              <a:t>ingest_email_decision</a:t>
            </a:r>
            <a:r>
              <a:rPr dirty="0"/>
              <a:t>(</a:t>
            </a:r>
            <a:r>
              <a:rPr dirty="0" err="1"/>
              <a:t>email_text</a:t>
            </a:r>
            <a:r>
              <a:rPr dirty="0"/>
              <a:t>)</a:t>
            </a:r>
            <a:br>
              <a:rPr dirty="0"/>
            </a:br>
            <a:br>
              <a:rPr dirty="0"/>
            </a:br>
            <a:r>
              <a:rPr dirty="0"/>
              <a:t>→ Claude extracts structured decision:</a:t>
            </a:r>
            <a:br>
              <a:rPr dirty="0"/>
            </a:br>
            <a:br>
              <a:rPr dirty="0"/>
            </a:br>
            <a:r>
              <a:rPr dirty="0"/>
              <a:t>  Decision: Q4-2024-AUDIT</a:t>
            </a:r>
            <a:br>
              <a:rPr dirty="0"/>
            </a:br>
            <a:r>
              <a:rPr dirty="0"/>
              <a:t>  Title: PO aging threshold 60→90 days</a:t>
            </a:r>
            <a:br>
              <a:rPr dirty="0"/>
            </a:br>
            <a:r>
              <a:rPr dirty="0"/>
              <a:t>  Date: 2024-10-15</a:t>
            </a:r>
            <a:br>
              <a:rPr dirty="0"/>
            </a:br>
            <a:r>
              <a:rPr dirty="0"/>
              <a:t>  Decided by: Sarah Chen, </a:t>
            </a:r>
            <a:r>
              <a:rPr dirty="0" err="1"/>
              <a:t>CapEx</a:t>
            </a:r>
            <a:r>
              <a:rPr dirty="0"/>
              <a:t> Lead</a:t>
            </a:r>
            <a:br>
              <a:rPr dirty="0"/>
            </a:br>
            <a:r>
              <a:rPr dirty="0"/>
              <a:t>  Rationale: 40% false positives at 60d</a:t>
            </a:r>
            <a:br>
              <a:rPr dirty="0"/>
            </a:br>
            <a:r>
              <a:rPr dirty="0"/>
              <a:t>  Impact: ~35% reduction in false alerts</a:t>
            </a:r>
            <a:br>
              <a:rPr dirty="0"/>
            </a:br>
            <a:br>
              <a:rPr dirty="0"/>
            </a:br>
            <a:r>
              <a:rPr dirty="0"/>
              <a:t>→ Creates Decision node with embedding</a:t>
            </a:r>
            <a:br>
              <a:rPr dirty="0"/>
            </a:br>
            <a:r>
              <a:rPr dirty="0"/>
              <a:t>→ Links to affected entities:</a:t>
            </a:r>
            <a:br>
              <a:rPr dirty="0"/>
            </a:br>
            <a:r>
              <a:rPr dirty="0"/>
              <a:t>    AFFECTS → </a:t>
            </a:r>
            <a:r>
              <a:rPr dirty="0" err="1"/>
              <a:t>po_aging_not_invoiced</a:t>
            </a:r>
            <a:br>
              <a:rPr dirty="0"/>
            </a:br>
            <a:r>
              <a:rPr dirty="0"/>
              <a:t>    AFFECTS → </a:t>
            </a:r>
            <a:r>
              <a:rPr dirty="0" err="1"/>
              <a:t>po_metrics</a:t>
            </a:r>
            <a:br>
              <a:rPr dirty="0"/>
            </a:br>
            <a:br>
              <a:rPr dirty="0"/>
            </a:br>
            <a:r>
              <a:rPr dirty="0"/>
              <a:t>→ Searchable forever via graph queries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92240"/>
            <a:ext cx="10515600" cy="320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6492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2F3F3"/>
                </a:solidFill>
              </a:defRPr>
            </a:pPr>
            <a:r>
              <a:t>Context graph captures decisions from:  📄 Documents  •  🤖 Agent interactions  •  📧 Email threads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900"/>
                </a:solidFill>
              </a:defRPr>
            </a:pPr>
            <a: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Agentic AI with Strands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2F3F3"/>
                </a:solidFill>
              </a:defRPr>
            </a:pPr>
            <a:r>
              <a:t>From manual investigation to an agent that queries, classifies, and records decisions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From Manual Investigation → Intelligent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029200" cy="52120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13412"/>
                </a:solidFill>
              </a:defRPr>
            </a:pPr>
            <a:r>
              <a:t>Before: Manual Month-End 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1. Open DataStudio, write SQL query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for PO aging report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2. Export to Excel, filter by region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3. Cross-reference with Alteryx output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for reconciliation status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4. Email finance team with findings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5. Manually classify risk levels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6. Document decisions in... nowhere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(lost by next quarter)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⏱️  4-6 hours per analyst per close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029200" cy="52120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660F"/>
                </a:solidFill>
              </a:defRPr>
            </a:pPr>
            <a:r>
              <a:t>After: Strands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9202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💬 "Show me PO aging for EMEA"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→ Searches KB for metric definition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→ Queries graph for thresholds + context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→ Returns structured breakdown ✅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💬 "Classify risk on these POs"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→ Calls classify_risk tool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→ 12 high-risk (&gt;$500K), 35 low-risk ✅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💬 "Why is this threshold 90 days?"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→ Graph: Q4-2024-AUDIT decision ✅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💬 "Approve the low-risk POs"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→ Records decision trace with reasoning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   → Available for next quarter's close ✅</a:t>
            </a:r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200">
                <a:solidFill>
                  <a:srgbClr val="F2F3F3"/>
                </a:solidFill>
              </a:defRPr>
            </a:pPr>
            <a:r>
              <a:t>⏱️  15 minutes with full audit trail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AFS Metrics Agent: The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658368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900"/>
                </a:solidFill>
              </a:defRPr>
            </a:pPr>
            <a:r>
              <a:t>integrated_agent.py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E0A0"/>
                </a:solidFill>
              </a:defRPr>
            </a:pPr>
            <a:r>
              <a:t>from strands import Agent, tool</a:t>
            </a:r>
            <a:br/>
            <a:r>
              <a:t>from strands.models.bedrock import BedrockModel</a:t>
            </a:r>
            <a:br/>
            <a:r>
              <a:t>from strands_tools import retrieve</a:t>
            </a:r>
            <a:br/>
            <a:r>
              <a:t>from tools.graph_tools import (</a:t>
            </a:r>
            <a:br/>
            <a:r>
              <a:t>    search_context_graph,</a:t>
            </a:r>
            <a:br/>
            <a:r>
              <a:t>    record_decision,</a:t>
            </a:r>
            <a:br/>
            <a:r>
              <a:t>)</a:t>
            </a:r>
            <a:br/>
            <a:br/>
            <a:r>
              <a:t>@tool</a:t>
            </a:r>
            <a:br/>
            <a:r>
              <a:t>def classify_risk(po_count: int,</a:t>
            </a:r>
            <a:br/>
            <a:r>
              <a:t>    total_amount: float, threshold: float</a:t>
            </a:r>
            <a:br/>
            <a:r>
              <a:t>) -&gt; str:</a:t>
            </a:r>
            <a:br/>
            <a:r>
              <a:t>    """Classify PO risk based on amount</a:t>
            </a:r>
            <a:br/>
            <a:r>
              <a:t>    and aging threshold."""</a:t>
            </a:r>
            <a:br/>
            <a:r>
              <a:t>    if total_amount &gt; threshold:</a:t>
            </a:r>
            <a:br/>
            <a:r>
              <a:t>        return f"HIGH RISK: {po_count} POs,"\</a:t>
            </a:r>
            <a:br/>
            <a:r>
              <a:t>               f" ${total_amount:,.0f} total"</a:t>
            </a:r>
            <a:br/>
            <a:r>
              <a:t>    return f"LOW RISK: {po_count} POs,"\</a:t>
            </a:r>
            <a:br/>
            <a:r>
              <a:t>           f" ${total_amount:,.0f} total"</a:t>
            </a:r>
            <a:br/>
            <a:br/>
            <a:r>
              <a:t>agent = Agent(</a:t>
            </a:r>
            <a:br/>
            <a:r>
              <a:t>    model=BedrockModel(</a:t>
            </a:r>
            <a:br/>
            <a:r>
              <a:t>        model_id="anthropic.claude-3-5-</a:t>
            </a:r>
            <a:br/>
            <a:r>
              <a:t>                  sonnet-20241022-v2:0"</a:t>
            </a:r>
            <a:br/>
            <a:r>
              <a:t>    ),</a:t>
            </a:r>
            <a:br/>
            <a:r>
              <a:t>    tools=[</a:t>
            </a:r>
            <a:br/>
            <a:r>
              <a:t>        retrieve,             # KB: metrics</a:t>
            </a:r>
            <a:br/>
            <a:r>
              <a:t>        search_context_graph, # Graph: WHY</a:t>
            </a:r>
            <a:br/>
            <a:r>
              <a:t>        record_decision,      # Audit trail</a:t>
            </a:r>
            <a:br/>
            <a:r>
              <a:t>        classify_risk,        # Take action</a:t>
            </a:r>
            <a:br/>
            <a:r>
              <a:t>    ],</a:t>
            </a:r>
            <a:br/>
            <a:r>
              <a:t>    system_prompt=</a:t>
            </a:r>
            <a:br/>
            <a:r>
              <a:t>        "You are the AFS Metrics Assistant."</a:t>
            </a:r>
            <a:br/>
            <a:r>
              <a:t>        " Search KB for metric definitions."</a:t>
            </a:r>
            <a:br/>
            <a:r>
              <a:t>        " Query graph for decision history."</a:t>
            </a:r>
            <a:br/>
            <a:r>
              <a:t>        " Record your reasoning as traces.",</a:t>
            </a:r>
            <a:br/>
            <a: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097280"/>
            <a:ext cx="3749039" cy="53035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0" y="1280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900"/>
                </a:solidFill>
              </a:defRPr>
            </a:pPr>
            <a:r>
              <a:t>Agent's Toolkit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1920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BB"/>
                </a:solidFill>
              </a:defRPr>
            </a:pPr>
            <a:r>
              <a:t>retrieve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24028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4565B"/>
                </a:solidFill>
              </a:defRPr>
            </a:pPr>
            <a:r>
              <a:t>Bedrock KB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2F3F3"/>
                </a:solidFill>
              </a:defRPr>
            </a:pPr>
            <a:r>
              <a:t>Metric definitions, recon rules,</a:t>
            </a:r>
            <a:br/>
            <a:r>
              <a:t>policy docs, namespace configs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017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BB"/>
                </a:solidFill>
              </a:defRPr>
            </a:pPr>
            <a:r>
              <a:t>search_context_graph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33756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4565B"/>
                </a:solidFill>
              </a:defRPr>
            </a:pPr>
            <a:r>
              <a:t>Neptune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661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2F3F3"/>
                </a:solidFill>
              </a:defRPr>
            </a:pPr>
            <a:r>
              <a:t>System relationships, decisions,</a:t>
            </a:r>
            <a:br/>
            <a:r>
              <a:t>threshold change history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114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114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BB"/>
                </a:solidFill>
              </a:defRPr>
            </a:pPr>
            <a:r>
              <a:t>record_decision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43484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4565B"/>
                </a:solidFill>
              </a:defRPr>
            </a:pPr>
            <a:r>
              <a:t>Neptune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663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2F3F3"/>
                </a:solidFill>
              </a:defRPr>
            </a:pPr>
            <a:r>
              <a:t>Captures month-end decisions</a:t>
            </a:r>
            <a:br/>
            <a:r>
              <a:t>for future audit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521207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21207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BB"/>
                </a:solidFill>
              </a:defRPr>
            </a:pPr>
            <a:r>
              <a:t>classify_risk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5532119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4565B"/>
                </a:solidFill>
              </a:defRPr>
            </a:pPr>
            <a:r>
              <a:t>Business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576071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2F3F3"/>
                </a:solidFill>
              </a:defRPr>
            </a:pPr>
            <a:r>
              <a:t>Classifies PO risk based on</a:t>
            </a:r>
            <a:br/>
            <a:r>
              <a:t>amount and aging thresholds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Demo: Month-End Close with the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457200" cy="1234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097280"/>
            <a:ext cx="4114800" cy="12344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143000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"What metrics track PO aging</a:t>
            </a:r>
            <a:br/>
            <a:r>
              <a:t> for the LLE category?"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0" y="1097280"/>
            <a:ext cx="5760720" cy="1234440"/>
          </a:xfrm>
          <a:prstGeom prst="rect">
            <a:avLst/>
          </a:prstGeom>
          <a:solidFill>
            <a:srgbClr val="153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94960" y="114300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2F3F3"/>
                </a:solidFill>
              </a:defRPr>
            </a:pPr>
            <a:r>
              <a:t>→ retrieve: finds po_aging_not_invoiced metric</a:t>
            </a:r>
            <a:br/>
            <a:r>
              <a:t>→ Returns: COUNT + SUM, threshold &gt;90 days,</a:t>
            </a:r>
            <a:br/>
            <a:r>
              <a:t>   dimensions: entity, currency, cost_center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1143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4565B"/>
                </a:solidFill>
              </a:defRPr>
            </a:pPr>
            <a:r>
              <a:t>KB retrieval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468880"/>
            <a:ext cx="457200" cy="1234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2788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468880"/>
            <a:ext cx="4114800" cy="12344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2514600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"Why is the threshold 90 days</a:t>
            </a:r>
            <a:br/>
            <a:r>
              <a:t> and not 60?"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2080" y="2468880"/>
            <a:ext cx="5760720" cy="1234440"/>
          </a:xfrm>
          <a:prstGeom prst="rect">
            <a:avLst/>
          </a:prstGeom>
          <a:solidFill>
            <a:srgbClr val="153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94960" y="251460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2F3F3"/>
                </a:solidFill>
              </a:defRPr>
            </a:pPr>
            <a:r>
              <a:t>→ search_context_graph: finds Q4-2024-AUDIT</a:t>
            </a:r>
            <a:br/>
            <a:r>
              <a:t>→ Returns: "60-day flagged 40% false positives.</a:t>
            </a:r>
            <a:br/>
            <a:r>
              <a:t>   Changed to 90 per audit recommendation."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2514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4565B"/>
                </a:solidFill>
              </a:defRPr>
            </a:pPr>
            <a:r>
              <a:t>Graph search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457200" cy="1234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4160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3840480"/>
            <a:ext cx="4114800" cy="12344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3886200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"Show me EMEA POs aging &gt;90</a:t>
            </a:r>
            <a:br/>
            <a:r>
              <a:t> days. Classify the risk."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12080" y="3840480"/>
            <a:ext cx="5760720" cy="1234440"/>
          </a:xfrm>
          <a:prstGeom prst="rect">
            <a:avLst/>
          </a:prstGeom>
          <a:solidFill>
            <a:srgbClr val="153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94960" y="388620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2F3F3"/>
                </a:solidFill>
              </a:defRPr>
            </a:pPr>
            <a:r>
              <a:t>→ retrieve: gets metric definition + filters</a:t>
            </a:r>
            <a:br/>
            <a:r>
              <a:t>→ classify_risk: 12 HIGH ($3.2M), 35 LOW ($800K)</a:t>
            </a:r>
            <a:br/>
            <a:r>
              <a:t>→ record_decision: saves classification reasoning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3886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4565B"/>
                </a:solidFill>
              </a:defRPr>
            </a:pPr>
            <a:r>
              <a:t>Action + trace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212080"/>
            <a:ext cx="457200" cy="1234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5532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5212080"/>
            <a:ext cx="4114800" cy="12344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5257800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"Compare March vs February</a:t>
            </a:r>
            <a:br/>
            <a:r>
              <a:t> failed asset creates.</a:t>
            </a:r>
            <a:br/>
            <a:r>
              <a:t> What changed?"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12080" y="5212080"/>
            <a:ext cx="5760720" cy="1234440"/>
          </a:xfrm>
          <a:prstGeom prst="rect">
            <a:avLst/>
          </a:prstGeom>
          <a:solidFill>
            <a:srgbClr val="153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94960" y="525780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2F3F3"/>
                </a:solidFill>
              </a:defRPr>
            </a:pPr>
            <a:r>
              <a:t>→ retrieve: asset_create_failures metric</a:t>
            </a:r>
            <a:br/>
            <a:r>
              <a:t>→ search_context_graph: finds MAR-15 onboarding</a:t>
            </a:r>
            <a:br/>
            <a:r>
              <a:t>→ "GENERATOR category added March 15 — 15 of 23</a:t>
            </a:r>
            <a:br/>
            <a:r>
              <a:t>   failures are new GENERATOR assets"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5257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4565B"/>
                </a:solidFill>
              </a:defRPr>
            </a:pPr>
            <a:r>
              <a:t>KB + Graph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Hands-On: Build the AFS Metrics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515600" cy="8686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548640" cy="868680"/>
          </a:xfrm>
          <a:prstGeom prst="rect">
            <a:avLst/>
          </a:prstGeom>
          <a:solidFill>
            <a:srgbClr val="1B66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Simple agent + KB retrieval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2763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agent("What metrics track PO aging?") → full definition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515600" cy="8686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2194560"/>
            <a:ext cx="548640" cy="868680"/>
          </a:xfrm>
          <a:prstGeom prst="rect">
            <a:avLst/>
          </a:prstGeom>
          <a:solidFill>
            <a:srgbClr val="1B66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240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Add classify_risk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3347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agent("Classify these 47 POs") → HIGH/LOW risk with amounts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00400"/>
            <a:ext cx="10515600" cy="8686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3200400"/>
            <a:ext cx="548640" cy="868680"/>
          </a:xfrm>
          <a:prstGeom prst="rect">
            <a:avLst/>
          </a:prstGeom>
          <a:solidFill>
            <a:srgbClr val="1B66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Add graph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63931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agent("Why 90-day threshold?") → Q4-2024-AUDIT decision trace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206240"/>
            <a:ext cx="10515600" cy="8686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4206240"/>
            <a:ext cx="548640" cy="868680"/>
          </a:xfrm>
          <a:prstGeom prst="rect">
            <a:avLst/>
          </a:prstGeom>
          <a:solidFill>
            <a:srgbClr val="1B66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3891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51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Full integrated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64515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KB + graph + classify + record_decision — complete assistant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212080"/>
            <a:ext cx="10515600" cy="8686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1520" y="5212080"/>
            <a:ext cx="548640" cy="868680"/>
          </a:xfrm>
          <a:prstGeom prst="rect">
            <a:avLst/>
          </a:prstGeom>
          <a:solidFill>
            <a:srgbClr val="1B66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53949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257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Interactive month-end 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65099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Walk through the 4 demo scenarios as the FBI CapEx analyst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AFS Metrics: Before vs After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474720" cy="457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900"/>
                </a:solidFill>
              </a:defRPr>
            </a:pPr>
            <a:r>
              <a:t>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097280"/>
            <a:ext cx="3657600" cy="457200"/>
          </a:xfrm>
          <a:prstGeom prst="rect">
            <a:avLst/>
          </a:prstGeom>
          <a:solidFill>
            <a:srgbClr val="3A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0" y="1143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13412"/>
                </a:solidFill>
              </a:defRPr>
            </a:pPr>
            <a:r>
              <a:t>Before (Manual)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097280"/>
            <a:ext cx="3749039" cy="457200"/>
          </a:xfrm>
          <a:prstGeom prst="rect">
            <a:avLst/>
          </a:prstGeom>
          <a:solidFill>
            <a:srgbClr val="153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38160" y="1143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660F"/>
                </a:solidFill>
              </a:defRPr>
            </a:pPr>
            <a:r>
              <a:t>After (Agentic RAG)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3474720" cy="10972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719072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"What are the PO aging</a:t>
            </a:r>
            <a:br/>
            <a:r>
              <a:t> metrics for LLE?"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645920"/>
            <a:ext cx="3657600" cy="1097280"/>
          </a:xfrm>
          <a:prstGeom prst="rect">
            <a:avLst/>
          </a:prstGeom>
          <a:solidFill>
            <a:srgbClr val="3A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80" y="171907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Search wiki, ask colleague,</a:t>
            </a:r>
            <a:br/>
            <a:r>
              <a:t>find Alteryx workflow 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1645920"/>
            <a:ext cx="3749039" cy="1097280"/>
          </a:xfrm>
          <a:prstGeom prst="rect">
            <a:avLst/>
          </a:prstGeom>
          <a:solidFill>
            <a:srgbClr val="153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38160" y="1719072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Agent retrieves full metric</a:t>
            </a:r>
            <a:br/>
            <a:r>
              <a:t>definition with filters,</a:t>
            </a:r>
            <a:br/>
            <a:r>
              <a:t>dimensions, periods 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80360"/>
            <a:ext cx="3474720" cy="10972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953512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"Why is the PO aging</a:t>
            </a:r>
            <a:br/>
            <a:r>
              <a:t> threshold 90 days?"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0" y="2880360"/>
            <a:ext cx="3657600" cy="1097280"/>
          </a:xfrm>
          <a:prstGeom prst="rect">
            <a:avLst/>
          </a:prstGeom>
          <a:solidFill>
            <a:srgbClr val="3A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97680" y="295351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"It's always been 90 days"</a:t>
            </a:r>
            <a:br/>
            <a:r>
              <a:t>(tribal knowledge) 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2880360"/>
            <a:ext cx="3749039" cy="1097280"/>
          </a:xfrm>
          <a:prstGeom prst="rect">
            <a:avLst/>
          </a:prstGeom>
          <a:solidFill>
            <a:srgbClr val="153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38160" y="2953512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Graph: Q4-2024-AUDIT changed</a:t>
            </a:r>
            <a:br/>
            <a:r>
              <a:t>from 60 → 90 due to false</a:t>
            </a:r>
            <a:br/>
            <a:r>
              <a:t>positives in audit 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14800"/>
            <a:ext cx="3474720" cy="10972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4187952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"Classify risk on 150K</a:t>
            </a:r>
            <a:br/>
            <a:r>
              <a:t> open transactions"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4114800"/>
            <a:ext cx="3657600" cy="1097280"/>
          </a:xfrm>
          <a:prstGeom prst="rect">
            <a:avLst/>
          </a:prstGeom>
          <a:solidFill>
            <a:srgbClr val="3A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97680" y="418795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Export to Excel, manually</a:t>
            </a:r>
            <a:br/>
            <a:r>
              <a:t>filter and categorize</a:t>
            </a:r>
            <a:br/>
            <a:r>
              <a:t>(4-6 hours) 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4114800"/>
            <a:ext cx="3749039" cy="1097280"/>
          </a:xfrm>
          <a:prstGeom prst="rect">
            <a:avLst/>
          </a:prstGeom>
          <a:solidFill>
            <a:srgbClr val="153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38160" y="4187952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Agent classifies in seconds,</a:t>
            </a:r>
            <a:br/>
            <a:r>
              <a:t>records reasoning as</a:t>
            </a:r>
            <a:br/>
            <a:r>
              <a:t>decision trace 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3474720" cy="10972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422392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"Why did asset creates</a:t>
            </a:r>
            <a:br/>
            <a:r>
              <a:t> fail this month?"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5349240"/>
            <a:ext cx="3657600" cy="1097280"/>
          </a:xfrm>
          <a:prstGeom prst="rect">
            <a:avLst/>
          </a:prstGeom>
          <a:solidFill>
            <a:srgbClr val="3A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97680" y="542239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Check logs, email team,</a:t>
            </a:r>
            <a:br/>
            <a:r>
              <a:t>piece together timeline</a:t>
            </a:r>
            <a:br/>
            <a:r>
              <a:t>(days) 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5349240"/>
            <a:ext cx="3749039" cy="1097280"/>
          </a:xfrm>
          <a:prstGeom prst="rect">
            <a:avLst/>
          </a:prstGeom>
          <a:solidFill>
            <a:srgbClr val="153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38160" y="5422392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Graph: GENERATOR category</a:t>
            </a:r>
            <a:br/>
            <a:r>
              <a:t>onboarded Mar 15 — root</a:t>
            </a:r>
            <a:br/>
            <a:r>
              <a:t>cause in 30 seconds 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KB fixes knowledge fragmentation  •  Graph fixes lost context  •  Agent fixes manual investigation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51560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91440" cy="9144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Custom chunking preserves financial document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Namespace-aware chunking keeps metric definitions intact — the difference between a partial answer and a complete one with all filters, dimensions, and periods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40280"/>
            <a:ext cx="1051560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2240280"/>
            <a:ext cx="91440" cy="9144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Context graphs are the event clock for financial 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9748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Every threshold change, audit finding, and category reclassification becomes a searchable decision node — institutional memory that survives team turnover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91839"/>
            <a:ext cx="1051560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3291839"/>
            <a:ext cx="91440" cy="9144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3337559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The two clock problem is acute in finance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39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Reconciliation rules change every quarter but the WHY is lost — context graphs give analysts the case law behind every number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343400"/>
            <a:ext cx="1051560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4343400"/>
            <a:ext cx="91440" cy="9144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43891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Agentic AI turns investigation into conversation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006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150K open transactions go from 4-6 hours of manual Excel work to a 15-minute chat with full audit trail via Strands @tool decorator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394959"/>
            <a:ext cx="1051560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5394959"/>
            <a:ext cx="91440" cy="9144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5440679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Decision traces compound across close cycles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852159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3F3"/>
                </a:solidFill>
              </a:defRPr>
            </a:pPr>
            <a:r>
              <a:t>March's month-end decisions become June's precedent — the system builds the institutional knowledge that Alteryx can't capture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77846"/>
            <a:ext cx="100584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900"/>
                </a:solidFill>
              </a:defRPr>
            </a:pPr>
            <a:r>
              <a:rPr dirty="0"/>
              <a:t>What's Next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24943" y="3725091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2F3F3"/>
                </a:solidFill>
              </a:defRPr>
            </a:pPr>
            <a:r>
              <a:rPr dirty="0"/>
              <a:t>🛡️  Bedrock Guardrails for financial data compliance</a:t>
            </a:r>
          </a:p>
          <a:p>
            <a:pPr>
              <a:spcAft>
                <a:spcPts val="600"/>
              </a:spcAft>
              <a:defRPr sz="1400">
                <a:solidFill>
                  <a:srgbClr val="F2F3F3"/>
                </a:solidFill>
              </a:defRPr>
            </a:pPr>
            <a:r>
              <a:rPr dirty="0"/>
              <a:t>📊  Connect to </a:t>
            </a:r>
            <a:r>
              <a:rPr dirty="0" err="1"/>
              <a:t>DataStudio</a:t>
            </a:r>
            <a:r>
              <a:rPr dirty="0"/>
              <a:t> Redshift for live metric queries</a:t>
            </a:r>
          </a:p>
          <a:p>
            <a:pPr>
              <a:spcAft>
                <a:spcPts val="600"/>
              </a:spcAft>
              <a:defRPr sz="1400">
                <a:solidFill>
                  <a:srgbClr val="F2F3F3"/>
                </a:solidFill>
              </a:defRPr>
            </a:pPr>
            <a:r>
              <a:rPr dirty="0"/>
              <a:t>🔄  Auto-ingest </a:t>
            </a:r>
            <a:r>
              <a:rPr dirty="0" err="1"/>
              <a:t>NamespaceDefinition</a:t>
            </a:r>
            <a:r>
              <a:rPr dirty="0"/>
              <a:t> changes from S3/DDB</a:t>
            </a:r>
          </a:p>
          <a:p>
            <a:pPr>
              <a:spcAft>
                <a:spcPts val="600"/>
              </a:spcAft>
              <a:defRPr sz="1400">
                <a:solidFill>
                  <a:srgbClr val="F2F3F3"/>
                </a:solidFill>
              </a:defRPr>
            </a:pPr>
            <a:r>
              <a:rPr dirty="0"/>
              <a:t>📈  </a:t>
            </a:r>
            <a:r>
              <a:rPr dirty="0" err="1"/>
              <a:t>QuickSight</a:t>
            </a:r>
            <a:r>
              <a:rPr dirty="0"/>
              <a:t> dashboards powered by agent-generated insights</a:t>
            </a:r>
          </a:p>
          <a:p>
            <a:pPr>
              <a:spcAft>
                <a:spcPts val="600"/>
              </a:spcAft>
              <a:defRPr sz="1400">
                <a:solidFill>
                  <a:srgbClr val="F2F3F3"/>
                </a:solidFill>
              </a:defRPr>
            </a:pPr>
            <a:r>
              <a:rPr dirty="0"/>
              <a:t>🤖  Multi-agent: separate specialists for PO, AP, Asset, Recon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2DB33B-BEDC-0D9D-1831-A4734CFF65D8}"/>
              </a:ext>
            </a:extLst>
          </p:cNvPr>
          <p:cNvSpPr txBox="1"/>
          <p:nvPr/>
        </p:nvSpPr>
        <p:spPr>
          <a:xfrm>
            <a:off x="1807029" y="2318657"/>
            <a:ext cx="9026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Github</a:t>
            </a:r>
            <a:r>
              <a:rPr lang="en-US" dirty="0">
                <a:solidFill>
                  <a:schemeClr val="bg1"/>
                </a:solidFill>
              </a:rPr>
              <a:t>: https://</a:t>
            </a:r>
            <a:r>
              <a:rPr lang="en-US" dirty="0" err="1">
                <a:solidFill>
                  <a:schemeClr val="bg1"/>
                </a:solidFill>
              </a:rPr>
              <a:t>github.com</a:t>
            </a:r>
            <a:r>
              <a:rPr lang="en-US" dirty="0">
                <a:solidFill>
                  <a:schemeClr val="bg1"/>
                </a:solidFill>
              </a:rPr>
              <a:t>/</a:t>
            </a:r>
            <a:r>
              <a:rPr lang="en-US" dirty="0" err="1">
                <a:solidFill>
                  <a:schemeClr val="bg1"/>
                </a:solidFill>
              </a:rPr>
              <a:t>monil</a:t>
            </a:r>
            <a:r>
              <a:rPr lang="en-US" dirty="0">
                <a:solidFill>
                  <a:schemeClr val="bg1"/>
                </a:solidFill>
              </a:rPr>
              <a:t>-shah/KGC-Workshop-2026-ContextGraph/tree/main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4372</Words>
  <Application>Microsoft Macintosh PowerPoint</Application>
  <PresentationFormat>Widescreen</PresentationFormat>
  <Paragraphs>394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Shah, Monil</cp:lastModifiedBy>
  <cp:revision>2</cp:revision>
  <dcterms:created xsi:type="dcterms:W3CDTF">2013-01-27T09:14:16Z</dcterms:created>
  <dcterms:modified xsi:type="dcterms:W3CDTF">2026-05-03T16:28:46Z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2026-05-03T16:28:44Z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ebe7b056-cb21-42b1-935c-b122387dc887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